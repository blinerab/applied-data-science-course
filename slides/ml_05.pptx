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embeddedFontLst>
    <p:embeddedFont>
      <p:font typeface="Inter"/>
      <p:regular r:id="rId19"/>
      <p:bold r:id="rId20"/>
      <p:italic r:id="rId21"/>
      <p:boldItalic r:id="rId22"/>
    </p:embeddedFont>
    <p:embeddedFont>
      <p:font typeface="JetBrains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5837C2-481E-4DE9-9919-09DC4A473B4A}">
  <a:tblStyle styleId="{AC5837C2-481E-4DE9-9919-09DC4A473B4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JetBrainsMono-bold.fntdata"/><Relationship Id="rId23" Type="http://schemas.openxmlformats.org/officeDocument/2006/relationships/font" Target="fonts/JetBrainsMon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boldItalic.fntdata"/><Relationship Id="rId25" Type="http://schemas.openxmlformats.org/officeDocument/2006/relationships/font" Target="fonts/JetBrains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34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41.png"/><Relationship Id="rId7" Type="http://schemas.openxmlformats.org/officeDocument/2006/relationships/image" Target="../media/image40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Relationship Id="rId5" Type="http://schemas.openxmlformats.org/officeDocument/2006/relationships/image" Target="../media/image46.png"/><Relationship Id="rId6" Type="http://schemas.openxmlformats.org/officeDocument/2006/relationships/image" Target="../media/image45.png"/><Relationship Id="rId7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Relationship Id="rId5" Type="http://schemas.openxmlformats.org/officeDocument/2006/relationships/image" Target="../media/image5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001707" y="-1143000"/>
            <a:ext cx="3238805" cy="3238805"/>
          </a:xfrm>
          <a:prstGeom prst="ellipse">
            <a:avLst/>
          </a:prstGeom>
          <a:solidFill>
            <a:srgbClr val="D1FAE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858500" y="-381305"/>
            <a:ext cx="1714500" cy="1714500"/>
          </a:xfrm>
          <a:prstGeom prst="ellipse">
            <a:avLst/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1333195" y="4190695"/>
            <a:ext cx="3810305" cy="3810305"/>
          </a:xfrm>
          <a:prstGeom prst="ellipse">
            <a:avLst/>
          </a:prstGeom>
          <a:solidFill>
            <a:srgbClr val="FEF3E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f71b8e4fd025b9dc618bf5ab305be868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f71b8e4fd025b9dc618bf5ab305be868.png" id="20" name="Google Shape;20;p3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5619902" y="1429207"/>
            <a:ext cx="952805" cy="952805"/>
          </a:xfrm>
          <a:prstGeom prst="ellipse">
            <a:avLst/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339de34ec20d3c0905e9b789d20af1a5.png"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6849" y="1686154"/>
            <a:ext cx="437998" cy="43799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761695" y="2762402"/>
            <a:ext cx="1066830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Decision Trees &amp; Random Forest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Inter"/>
              <a:buNone/>
            </a:pPr>
            <a:r>
              <a:t/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92bdef3ec7b01ff2065c995816bb5221.png" id="24" name="Google Shape;24;p3"/>
          <p:cNvPicPr preferRelativeResize="0"/>
          <p:nvPr/>
        </p:nvPicPr>
        <p:blipFill rotWithShape="1">
          <a:blip r:embed="rId5">
            <a:alphaModFix/>
          </a:blip>
          <a:srcRect b="-420" l="0" r="0" t="-420"/>
          <a:stretch/>
        </p:blipFill>
        <p:spPr>
          <a:xfrm>
            <a:off x="5715000" y="4381805"/>
            <a:ext cx="761695" cy="3840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761695" y="4667098"/>
            <a:ext cx="10668305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Machine Learning · Modeli 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3885286" y="5286146"/>
            <a:ext cx="124907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Decision Trees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4758f35638b9391efba97b927cbd1976.png" id="27" name="Google Shape;2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7483" y="529071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5437937" y="5286146"/>
            <a:ext cx="1894637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Gini &amp; Information Gain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4758f35638b9391efba97b927cbd1976.png" id="29" name="Google Shape;2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90134" y="529071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 txBox="1"/>
          <p:nvPr/>
        </p:nvSpPr>
        <p:spPr>
          <a:xfrm>
            <a:off x="7539228" y="5286146"/>
            <a:ext cx="1164946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4758f35638b9391efba97b927cbd1976.png" id="31" name="Google Shape;3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1426" y="5290718"/>
            <a:ext cx="171907" cy="171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37" name="Google Shape;37;p4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38" name="Google Shape;38;p4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571500" y="1524305"/>
            <a:ext cx="3638398" cy="4686300"/>
          </a:xfrm>
          <a:prstGeom prst="roundRect">
            <a:avLst>
              <a:gd fmla="val 3669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286707" y="1524305"/>
            <a:ext cx="3638398" cy="4686300"/>
          </a:xfrm>
          <a:prstGeom prst="roundRect">
            <a:avLst>
              <a:gd fmla="val 3669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001000" y="1524305"/>
            <a:ext cx="3638398" cy="4686300"/>
          </a:xfrm>
          <a:prstGeom prst="roundRect">
            <a:avLst>
              <a:gd fmla="val 3669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3bacb895bb3d575142f1a15af9db5bcf.png" id="43" name="Google Shape;4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Çka do të mësojmë sot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Nga </a:t>
            </a:r>
            <a:r>
              <a:rPr b="1" i="0" lang="en-US" sz="12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Logistic Regression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te </a:t>
            </a:r>
            <a:r>
              <a:rPr b="1" i="0" lang="en-US" sz="12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tree-based models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— dhe pse forma e pemës ndryshon çdo gjë.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57707" y="1772107"/>
            <a:ext cx="418795" cy="418795"/>
          </a:xfrm>
          <a:prstGeom prst="roundRect">
            <a:avLst>
              <a:gd fmla="val 27293" name="adj"/>
            </a:avLst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1019556" y="1857146"/>
            <a:ext cx="11338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1390802" y="1809598"/>
            <a:ext cx="26673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Decision Trees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857707" y="2381098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✓ Çka është një pemë vendimi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857707" y="2702966"/>
            <a:ext cx="339516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✓ Pse na duheshin pas Logistic Regression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857707" y="3024835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✓ Root, node, leaf,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857707" y="3346704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✓ Gini vs Entropy — intuita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857707" y="3668573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✓ Information Gain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857707" y="3990442"/>
            <a:ext cx="30486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✓ Parametrat: max_depth, min_samples_split, min_samples_leaf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857707" y="4539082"/>
            <a:ext cx="339516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✓ Pse pemët e vetme mbi-fitojnë (overfit)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572000" y="1772107"/>
            <a:ext cx="418795" cy="418795"/>
          </a:xfrm>
          <a:prstGeom prst="roundRect">
            <a:avLst>
              <a:gd fmla="val 27293" name="adj"/>
            </a:avLst>
          </a:prstGeom>
          <a:solidFill>
            <a:srgbClr val="FEE8D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4713732" y="1857146"/>
            <a:ext cx="143561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5105095" y="1809598"/>
            <a:ext cx="26673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4572000" y="2381098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✓ Ideja e ensemble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4572000" y="2702966"/>
            <a:ext cx="30486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✓ Pse shumë pemë "të dobëta" bëjnë një model të fortë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4572000" y="3251606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✓ Bootstrap sampling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4572000" y="3573475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✓ Zgjedhja e rastësishme e veçorive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4572000" y="3895344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✓ Voting: si "votojnë" pemët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4572000" y="4217213"/>
            <a:ext cx="347563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✓ Tree vs Forest — variance dhe stabilitet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4572000" y="4539082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✓ Analogji reale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8287207" y="1772107"/>
            <a:ext cx="418795" cy="418795"/>
          </a:xfrm>
          <a:prstGeom prst="roundRect">
            <a:avLst>
              <a:gd fmla="val 27293" name="adj"/>
            </a:avLst>
          </a:prstGeom>
          <a:solidFill>
            <a:srgbClr val="CCFBF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 txBox="1"/>
          <p:nvPr/>
        </p:nvSpPr>
        <p:spPr>
          <a:xfrm>
            <a:off x="8426196" y="1857146"/>
            <a:ext cx="143561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8820302" y="1809598"/>
            <a:ext cx="26673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Praktikë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8287207" y="2381098"/>
            <a:ext cx="331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✓ Trajnim &amp; vlerësim me dataset-in churn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8287207" y="2702966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✓ Confusion matrix + F1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8287207" y="3024835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✓ Krahasim </a:t>
            </a:r>
            <a:r>
              <a:rPr b="1" i="0" lang="en-US" sz="10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Logistic vs Tree vs Forest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8287207" y="3346704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✓ Kodi hap pas hapi në sklearn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8287207" y="3668573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✓ Gabime tipike të fillestarëve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8287207" y="3990442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✓ Kur ta zgjedhësh secilin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82" name="Google Shape;82;p5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83" name="Google Shape;83;p5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571500" y="1524298"/>
            <a:ext cx="3829500" cy="4515900"/>
          </a:xfrm>
          <a:prstGeom prst="roundRect">
            <a:avLst>
              <a:gd fmla="val 4098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4572000" y="1524298"/>
            <a:ext cx="3829500" cy="4515900"/>
          </a:xfrm>
          <a:prstGeom prst="roundRect">
            <a:avLst>
              <a:gd fmla="val 4098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572500" y="1524298"/>
            <a:ext cx="3066900" cy="4515900"/>
          </a:xfrm>
          <a:prstGeom prst="roundRect">
            <a:avLst>
              <a:gd fmla="val 4353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fa3e7f81bf1ef20f00975af6e7211996.png" id="88" name="Google Shape;8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Pse na duhen pemët pas Logistic Regression?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Logistic Regression vizaton një vijë të drejtë. Por bota reale nuk është gjithmonë e drejtë.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761695" y="1638605"/>
            <a:ext cx="3429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Logistic Regression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4e92c327ada41a32ca689ebcd67da896.png" id="93" name="Google Shape;93;p5"/>
          <p:cNvPicPr preferRelativeResize="0"/>
          <p:nvPr/>
        </p:nvPicPr>
        <p:blipFill rotWithShape="1">
          <a:blip r:embed="rId6">
            <a:alphaModFix/>
          </a:blip>
          <a:srcRect b="0" l="-2" r="-2" t="0"/>
          <a:stretch/>
        </p:blipFill>
        <p:spPr>
          <a:xfrm>
            <a:off x="743400" y="1904700"/>
            <a:ext cx="3467400" cy="302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/>
          <p:nvPr/>
        </p:nvSpPr>
        <p:spPr>
          <a:xfrm>
            <a:off x="4762195" y="1638605"/>
            <a:ext cx="3429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Realiteti: modele jo-lineare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ca07d45b89549faeb488b28979f7f759.png" id="95" name="Google Shape;95;p5"/>
          <p:cNvPicPr preferRelativeResize="0"/>
          <p:nvPr/>
        </p:nvPicPr>
        <p:blipFill rotWithShape="1">
          <a:blip r:embed="rId7">
            <a:alphaModFix/>
          </a:blip>
          <a:srcRect b="0" l="-2" r="-2" t="0"/>
          <a:stretch/>
        </p:blipFill>
        <p:spPr>
          <a:xfrm>
            <a:off x="4743900" y="1904700"/>
            <a:ext cx="3467400" cy="302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/>
          <p:nvPr/>
        </p:nvSpPr>
        <p:spPr>
          <a:xfrm>
            <a:off x="8762695" y="1638605"/>
            <a:ext cx="2667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Trees zgjidhin: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8762695" y="2000707"/>
            <a:ext cx="2667305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Marrëdhënie jo-lineare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— pa transformime.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8762695" y="2552090"/>
            <a:ext cx="2667305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Ndërveprime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mes veçorive automatikisht.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8762695" y="3103474"/>
            <a:ext cx="2667305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S'ka nevojë për </a:t>
            </a:r>
            <a:r>
              <a:rPr b="1" lang="en-US" sz="1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tandardScaler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8762695" y="3654857"/>
            <a:ext cx="2667305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Interpretim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— çdo vendim është një pyetje.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107" name="Google Shape;107;p6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108" name="Google Shape;108;p6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571500" y="1524305"/>
            <a:ext cx="4781398" cy="4686300"/>
          </a:xfrm>
          <a:prstGeom prst="roundRect">
            <a:avLst>
              <a:gd fmla="val 2849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524805" y="1524305"/>
            <a:ext cx="6115507" cy="4686300"/>
          </a:xfrm>
          <a:prstGeom prst="roundRect">
            <a:avLst>
              <a:gd fmla="val 2849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47521c401a3a144e93785ac7aa7863b.png" id="112" name="Google Shape;11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Çka është një Decision Tree?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Një model që merr vendime duke bërë pyetje me radhë. Çdo pyetje ndan të dhënat në dy grupe.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761695" y="1714500"/>
            <a:ext cx="43818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Anatomia e një peme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761695" y="2000707"/>
            <a:ext cx="43818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4 elementet që duhet të njohësh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61695" y="2381098"/>
            <a:ext cx="381305" cy="381305"/>
          </a:xfrm>
          <a:prstGeom prst="roundRect">
            <a:avLst>
              <a:gd fmla="val 19904" name="adj"/>
            </a:avLst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761695" y="2381098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1276502" y="2381098"/>
            <a:ext cx="36100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Root node — rrënja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1276502" y="2590495"/>
            <a:ext cx="426659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Pyetja e parë, mbi </a:t>
            </a:r>
            <a:r>
              <a:rPr b="1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të gjithë</a:t>
            </a: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dataset-in. P.sh. "Mosha &lt; 30?"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61695" y="2942539"/>
            <a:ext cx="381305" cy="381305"/>
          </a:xfrm>
          <a:prstGeom prst="roundRect">
            <a:avLst>
              <a:gd fmla="val 19904" name="adj"/>
            </a:avLst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761695" y="2942539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1276502" y="2942539"/>
            <a:ext cx="363931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Decision node — nyje vendimi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1276502" y="3151937"/>
            <a:ext cx="4299509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Pyetje të reja mbi një pjesë të dataset-it, që dalin nga rrënja.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61695" y="3503981"/>
            <a:ext cx="381305" cy="381305"/>
          </a:xfrm>
          <a:prstGeom prst="roundRect">
            <a:avLst>
              <a:gd fmla="val 19904" name="adj"/>
            </a:avLst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761695" y="3503981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1276502" y="3503981"/>
            <a:ext cx="386791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Leaf node — gjethja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1276502" y="3713378"/>
            <a:ext cx="386791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Fundi i pemës — këtu del </a:t>
            </a:r>
            <a:r>
              <a:rPr b="1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parashikimi</a:t>
            </a: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(p.sh. "Do të largohet: PO").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61695" y="4263847"/>
            <a:ext cx="418795" cy="418795"/>
          </a:xfrm>
          <a:prstGeom prst="roundRect">
            <a:avLst>
              <a:gd fmla="val 18122" name="adj"/>
            </a:avLst>
          </a:prstGeom>
          <a:solidFill>
            <a:srgbClr val="F0FDFA"/>
          </a:solidFill>
          <a:ln cap="flat" cmpd="sng" w="254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761695" y="4263847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1314907" y="4263847"/>
            <a:ext cx="342900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Split — ndarja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1314907" y="4474159"/>
            <a:ext cx="40581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Rregulli që ndan të dhënat në 2 pjesë (majtas / djathtas).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5715000" y="1714500"/>
            <a:ext cx="5715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Shembull vizual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9929a2ab7bde8dd9ae899e9f7ee1d59b.png" id="135" name="Google Shape;135;p6"/>
          <p:cNvPicPr preferRelativeResize="0"/>
          <p:nvPr/>
        </p:nvPicPr>
        <p:blipFill rotWithShape="1">
          <a:blip r:embed="rId6">
            <a:alphaModFix/>
          </a:blip>
          <a:srcRect b="-1" l="0" r="0" t="-1"/>
          <a:stretch/>
        </p:blipFill>
        <p:spPr>
          <a:xfrm>
            <a:off x="5619902" y="2012323"/>
            <a:ext cx="5905195" cy="409559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143" name="Google Shape;143;p7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571500" y="1524305"/>
            <a:ext cx="11067898" cy="4686300"/>
          </a:xfrm>
          <a:prstGeom prst="roundRect">
            <a:avLst>
              <a:gd fmla="val 2849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e679e66db368414db78104b27c156afd.png" id="146" name="Google Shape;14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Si i zgjedh pema pyetjet e veta?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Pema kërkon pyetjen që ndan të dhënat në grupe sa më "të pastra" — sa më shumë të njëjta ndaj njëra-tjetrës.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761695" y="1714500"/>
            <a:ext cx="10668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Dataset: 20 punonjës — 🟢 qëndruan · 🟠 u larguan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6b41269c21bd27bbd3b96b66307ba1ec.png" id="151" name="Google Shape;151;p7"/>
          <p:cNvPicPr preferRelativeResize="0"/>
          <p:nvPr/>
        </p:nvPicPr>
        <p:blipFill rotWithShape="1">
          <a:blip r:embed="rId6">
            <a:alphaModFix/>
          </a:blip>
          <a:srcRect b="0" l="-3" r="-3" t="0"/>
          <a:stretch/>
        </p:blipFill>
        <p:spPr>
          <a:xfrm>
            <a:off x="761695" y="2048256"/>
            <a:ext cx="3238805" cy="3905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648640b25e5602406f3366351d96e391.png" id="152" name="Google Shape;152;p7"/>
          <p:cNvPicPr preferRelativeResize="0"/>
          <p:nvPr/>
        </p:nvPicPr>
        <p:blipFill rotWithShape="1">
          <a:blip r:embed="rId7">
            <a:alphaModFix/>
          </a:blip>
          <a:srcRect b="-40" l="0" r="0" t="-40"/>
          <a:stretch/>
        </p:blipFill>
        <p:spPr>
          <a:xfrm>
            <a:off x="4143146" y="3857854"/>
            <a:ext cx="571500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a45975e390ae4d6eb9b6b8aca9ec38f7.png" id="153" name="Google Shape;153;p7"/>
          <p:cNvPicPr preferRelativeResize="0"/>
          <p:nvPr/>
        </p:nvPicPr>
        <p:blipFill rotWithShape="1">
          <a:blip r:embed="rId8">
            <a:alphaModFix/>
          </a:blip>
          <a:srcRect b="0" l="-2" r="-2" t="0"/>
          <a:stretch/>
        </p:blipFill>
        <p:spPr>
          <a:xfrm>
            <a:off x="4858207" y="2048256"/>
            <a:ext cx="6572707" cy="39054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161" name="Google Shape;161;p8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571500" y="1524305"/>
            <a:ext cx="3590849" cy="3258007"/>
          </a:xfrm>
          <a:prstGeom prst="roundRect">
            <a:avLst>
              <a:gd fmla="val 4098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304995" y="1524305"/>
            <a:ext cx="3590849" cy="3258007"/>
          </a:xfrm>
          <a:prstGeom prst="roundRect">
            <a:avLst>
              <a:gd fmla="val 4098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8039405" y="1524305"/>
            <a:ext cx="3600907" cy="3258007"/>
          </a:xfrm>
          <a:prstGeom prst="roundRect">
            <a:avLst>
              <a:gd fmla="val 4098" name="adj"/>
            </a:avLst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29ab1a13a1f5cd23a93cc3d4ca72e44f.png" id="166" name="Google Shape;16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Gini &amp; Entropy — matje e "papastërtisë"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571500" y="1009498"/>
            <a:ext cx="117354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Intuita: nëse </a:t>
            </a:r>
            <a:r>
              <a:rPr b="1" lang="en-US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merr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1 top nga një kuti me rastësi — sa e sigurt është ngjyra? Sa më i sigurt, aq më "e pastër" kutia.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761695" y="1714500"/>
            <a:ext cx="319125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✓ Kuti e pastër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8867755b02e129e8a753d601cdc05e78.png" id="171" name="Google Shape;171;p8"/>
          <p:cNvPicPr preferRelativeResize="0"/>
          <p:nvPr/>
        </p:nvPicPr>
        <p:blipFill rotWithShape="1">
          <a:blip r:embed="rId6">
            <a:alphaModFix/>
          </a:blip>
          <a:srcRect b="0" l="-14" r="-14" t="0"/>
          <a:stretch/>
        </p:blipFill>
        <p:spPr>
          <a:xfrm>
            <a:off x="761695" y="2000707"/>
            <a:ext cx="3191256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 txBox="1"/>
          <p:nvPr/>
        </p:nvSpPr>
        <p:spPr>
          <a:xfrm>
            <a:off x="761695" y="4000500"/>
            <a:ext cx="31912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Gini = 0.00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761695" y="4276649"/>
            <a:ext cx="3191256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Entropy = 0.00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761695" y="4466844"/>
            <a:ext cx="3191256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100% e sigurt → parashikim i perfektë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4496105" y="1714500"/>
            <a:ext cx="319125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~ Kuti e përzier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047ca93ded8bb87b06a11ce56a557d90.png" id="176" name="Google Shape;176;p8"/>
          <p:cNvPicPr preferRelativeResize="0"/>
          <p:nvPr/>
        </p:nvPicPr>
        <p:blipFill rotWithShape="1">
          <a:blip r:embed="rId7">
            <a:alphaModFix/>
          </a:blip>
          <a:srcRect b="0" l="-14" r="-14" t="0"/>
          <a:stretch/>
        </p:blipFill>
        <p:spPr>
          <a:xfrm>
            <a:off x="4496105" y="2000707"/>
            <a:ext cx="3191256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 txBox="1"/>
          <p:nvPr/>
        </p:nvSpPr>
        <p:spPr>
          <a:xfrm>
            <a:off x="4496105" y="4000500"/>
            <a:ext cx="31912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Gini ≈ 0.44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4496105" y="4276649"/>
            <a:ext cx="3191256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Entropy ≈ 0.97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4496105" y="4466844"/>
            <a:ext cx="3191256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Pak i sigurt → parashikim i dobët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8229600" y="1714500"/>
            <a:ext cx="3191256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✗ Kuti perfekte 50/50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3037ba6c5ba099e0d94a14dc7204789f.png" id="181" name="Google Shape;181;p8"/>
          <p:cNvPicPr preferRelativeResize="0"/>
          <p:nvPr/>
        </p:nvPicPr>
        <p:blipFill rotWithShape="1">
          <a:blip r:embed="rId8">
            <a:alphaModFix/>
          </a:blip>
          <a:srcRect b="0" l="-8" r="-8" t="0"/>
          <a:stretch/>
        </p:blipFill>
        <p:spPr>
          <a:xfrm>
            <a:off x="8229600" y="2000707"/>
            <a:ext cx="3200400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 txBox="1"/>
          <p:nvPr/>
        </p:nvSpPr>
        <p:spPr>
          <a:xfrm>
            <a:off x="8229600" y="4000500"/>
            <a:ext cx="31912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Gini = 0.50 (max)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8229600" y="4276649"/>
            <a:ext cx="3191256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Entropy = 1.00 (max)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8229600" y="4466844"/>
            <a:ext cx="3191256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Rastësia e plotë → si të hedhësh monedhë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191" name="Google Shape;191;p9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192" name="Google Shape;192;p9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/>
          <p:nvPr/>
        </p:nvSpPr>
        <p:spPr>
          <a:xfrm>
            <a:off x="571500" y="1524305"/>
            <a:ext cx="3638398" cy="3295498"/>
          </a:xfrm>
          <a:prstGeom prst="roundRect">
            <a:avLst>
              <a:gd fmla="val 346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571500" y="1524305"/>
            <a:ext cx="3638398" cy="47549"/>
          </a:xfrm>
          <a:prstGeom prst="roundRect">
            <a:avLst>
              <a:gd fmla="val 240384" name="adj"/>
            </a:avLst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4286707" y="1524305"/>
            <a:ext cx="3638398" cy="3295498"/>
          </a:xfrm>
          <a:prstGeom prst="roundRect">
            <a:avLst>
              <a:gd fmla="val 346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286707" y="1524305"/>
            <a:ext cx="3638398" cy="47549"/>
          </a:xfrm>
          <a:prstGeom prst="roundRect">
            <a:avLst>
              <a:gd fmla="val 240384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8001000" y="1524305"/>
            <a:ext cx="3638398" cy="3295498"/>
          </a:xfrm>
          <a:prstGeom prst="roundRect">
            <a:avLst>
              <a:gd fmla="val 346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8001000" y="1524305"/>
            <a:ext cx="3638398" cy="47549"/>
          </a:xfrm>
          <a:prstGeom prst="roundRect">
            <a:avLst>
              <a:gd fmla="val 240384" name="adj"/>
            </a:avLst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13b503672aa8a5408de188af1a1678a5.png" id="200" name="Google Shape;20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9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Parametrat kryesorë — si e kontrollojmë pemën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571500" y="1009498"/>
            <a:ext cx="110496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Pa kontroll, pema rritet deri sa çdo gjeth mban 1 vetëm mostër → memorizim. Ky janë frenat tona.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761695" y="1714500"/>
            <a:ext cx="3238805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max_depth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761695" y="2000707"/>
            <a:ext cx="3238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Sa "e thellë" mund të rritet pema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761695" y="2286000"/>
            <a:ext cx="32388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Numri max i niveleve nga rrënja te gjethja. Kontrollon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sa kompleks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mund të bëhet modeli.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61695" y="2873045"/>
            <a:ext cx="3238805" cy="495605"/>
          </a:xfrm>
          <a:prstGeom prst="roundRect">
            <a:avLst>
              <a:gd fmla="val 15314" name="adj"/>
            </a:avLst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 txBox="1"/>
          <p:nvPr/>
        </p:nvSpPr>
        <p:spPr>
          <a:xfrm>
            <a:off x="875995" y="2968142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✓ E vogël (3–5)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875995" y="3129991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Pemë e thjeshtë, e lexueshme.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761695" y="3444545"/>
            <a:ext cx="3238805" cy="495605"/>
          </a:xfrm>
          <a:prstGeom prst="roundRect">
            <a:avLst>
              <a:gd fmla="val 15314" name="adj"/>
            </a:avLst>
          </a:prstGeom>
          <a:solidFill>
            <a:srgbClr val="FEF2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875995" y="3539642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✗ Shumë e madhe (None)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875995" y="3701491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Pema rritet deri sa memorizon → overfit.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4476902" y="1714500"/>
            <a:ext cx="3238805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min_samples_split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4476902" y="2000707"/>
            <a:ext cx="3238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Sa mostra minimum për të bërë një ndarje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4476902" y="2286000"/>
            <a:ext cx="32388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Nëse një nyje ka më pak se X mostra,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ndalo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— mos e ndaj më tej.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476902" y="2873045"/>
            <a:ext cx="3238805" cy="495605"/>
          </a:xfrm>
          <a:prstGeom prst="roundRect">
            <a:avLst>
              <a:gd fmla="val 15314" name="adj"/>
            </a:avLst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 txBox="1"/>
          <p:nvPr/>
        </p:nvSpPr>
        <p:spPr>
          <a:xfrm>
            <a:off x="4591202" y="2968142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✓ P.sh. 10 ose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4591202" y="3129991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Nyjet e vogla nuk ndahen — mos-memorizim.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476902" y="3444545"/>
            <a:ext cx="3238805" cy="495605"/>
          </a:xfrm>
          <a:prstGeom prst="roundRect">
            <a:avLst>
              <a:gd fmla="val 15314" name="adj"/>
            </a:avLst>
          </a:prstGeom>
          <a:solidFill>
            <a:srgbClr val="FEF2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4591202" y="3539642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✗ Default =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4591202" y="3701491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Ndan çdo grup me ≥2 mostra → shumë detaje.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8191195" y="1714500"/>
            <a:ext cx="3238805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min_samples_leaf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8191195" y="2000707"/>
            <a:ext cx="3238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Sa mostra minimum në një gjeth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8191195" y="2286000"/>
            <a:ext cx="32388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Çdo gjeth përfundimtar duhet të përmbajë ≥ X mostra. Përndryshe, s'lejohet ai split.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8191195" y="2873045"/>
            <a:ext cx="3238805" cy="495605"/>
          </a:xfrm>
          <a:prstGeom prst="roundRect">
            <a:avLst>
              <a:gd fmla="val 15314" name="adj"/>
            </a:avLst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8305495" y="2968142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✓ P.sh. 5 ose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8305495" y="3129991"/>
            <a:ext cx="3258007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Gjethet e vogla ndalohen → më e qëndrueshme.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8191195" y="3444545"/>
            <a:ext cx="3238805" cy="495605"/>
          </a:xfrm>
          <a:prstGeom prst="roundRect">
            <a:avLst>
              <a:gd fmla="val 15314" name="adj"/>
            </a:avLst>
          </a:prstGeom>
          <a:solidFill>
            <a:srgbClr val="FEF2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 txBox="1"/>
          <p:nvPr/>
        </p:nvSpPr>
        <p:spPr>
          <a:xfrm>
            <a:off x="8305495" y="3539642"/>
            <a:ext cx="30102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✗ Default =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8305495" y="3701491"/>
            <a:ext cx="3576218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Një gjeth mund të mbajë 1 mostër → outlier gënjyer.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9819742" y="5343754"/>
            <a:ext cx="162763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JetBrains Mono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ae0d8616539100ff16fb2f8c0ccf1a7a.png" id="238" name="Google Shape;238;p10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90589d74a3e7cccc815be5d788d3278b.png" id="239" name="Google Shape;239;p10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0"/>
          <p:cNvSpPr/>
          <p:nvPr/>
        </p:nvSpPr>
        <p:spPr>
          <a:xfrm>
            <a:off x="571500" y="1524305"/>
            <a:ext cx="5495544" cy="3258007"/>
          </a:xfrm>
          <a:prstGeom prst="roundRect">
            <a:avLst>
              <a:gd fmla="val 4098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143854" y="1524305"/>
            <a:ext cx="5495544" cy="3258007"/>
          </a:xfrm>
          <a:prstGeom prst="roundRect">
            <a:avLst>
              <a:gd fmla="val 4098" name="adj"/>
            </a:avLst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571500" y="4953300"/>
            <a:ext cx="11048700" cy="580200"/>
          </a:xfrm>
          <a:prstGeom prst="roundRect">
            <a:avLst>
              <a:gd fmla="val 10783" name="adj"/>
            </a:avLst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d3b4ef2cc9ddbc88ac15c165bd4f3cdc.png" id="244" name="Google Shape;24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Një pemë e vetme është "e brishtë"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Nëse ndryshojmë pak të dhënat, pema shpesh ndryshon plotësisht. Kjo quhet </a:t>
            </a:r>
            <a:r>
              <a:rPr b="1" i="0" lang="en-US" sz="12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high variance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761695" y="1714500"/>
            <a:ext cx="509595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Trajnimi 1 — dataset origjinal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1f50b287514f5952e8c71d5a38062f3a.png" id="249" name="Google Shape;249;p10"/>
          <p:cNvPicPr preferRelativeResize="0"/>
          <p:nvPr/>
        </p:nvPicPr>
        <p:blipFill rotWithShape="1">
          <a:blip r:embed="rId6">
            <a:alphaModFix/>
          </a:blip>
          <a:srcRect b="-5" l="0" r="0" t="-5"/>
          <a:stretch/>
        </p:blipFill>
        <p:spPr>
          <a:xfrm>
            <a:off x="761695" y="2000707"/>
            <a:ext cx="5095951" cy="266730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0"/>
          <p:cNvSpPr txBox="1"/>
          <p:nvPr/>
        </p:nvSpPr>
        <p:spPr>
          <a:xfrm>
            <a:off x="6334049" y="1714500"/>
            <a:ext cx="509595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Trajnimi 2 — hoqëm vetëm 5 rreshta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04b0eafdbf8f81d8422ad041811ba1ef.png" id="251" name="Google Shape;251;p10"/>
          <p:cNvPicPr preferRelativeResize="0"/>
          <p:nvPr/>
        </p:nvPicPr>
        <p:blipFill rotWithShape="1">
          <a:blip r:embed="rId7">
            <a:alphaModFix/>
          </a:blip>
          <a:srcRect b="-5" l="0" r="0" t="-5"/>
          <a:stretch/>
        </p:blipFill>
        <p:spPr>
          <a:xfrm>
            <a:off x="6334049" y="2000707"/>
            <a:ext cx="5095951" cy="266730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 txBox="1"/>
          <p:nvPr/>
        </p:nvSpPr>
        <p:spPr>
          <a:xfrm>
            <a:off x="857707" y="5124298"/>
            <a:ext cx="104781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Ideja që zgjidh problemin — "pyet shumë ekspertë, jo vetëm një"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ae0d8616539100ff16fb2f8c0ccf1a7a.png" id="259" name="Google Shape;259;p11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90589d74a3e7cccc815be5d788d3278b.png" id="260" name="Google Shape;260;p11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1"/>
          <p:cNvSpPr/>
          <p:nvPr/>
        </p:nvSpPr>
        <p:spPr>
          <a:xfrm>
            <a:off x="571500" y="1524305"/>
            <a:ext cx="5544007" cy="4686300"/>
          </a:xfrm>
          <a:prstGeom prst="roundRect">
            <a:avLst>
              <a:gd fmla="val 2849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6286500" y="1524305"/>
            <a:ext cx="5352898" cy="4686300"/>
          </a:xfrm>
          <a:prstGeom prst="roundRect">
            <a:avLst>
              <a:gd fmla="val 2849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6476695" y="4524451"/>
            <a:ext cx="4953305" cy="1571854"/>
          </a:xfrm>
          <a:prstGeom prst="roundRect">
            <a:avLst>
              <a:gd fmla="val 7272" name="adj"/>
            </a:avLst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bfa205bfc55468b64cb6a408599c4de.png" id="265" name="Google Shape;26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1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Ensemble learning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Ensemble = kombinim i shumë modeleve. Nëse secili gabon </a:t>
            </a:r>
            <a:r>
              <a:rPr b="1" i="1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ndryshe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, gabimet anulohen mes tyre.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761695" y="1714500"/>
            <a:ext cx="51435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Analogji reale — "guess the weight"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761695" y="2627071"/>
            <a:ext cx="5143500" cy="2018995"/>
          </a:xfrm>
          <a:prstGeom prst="roundRect">
            <a:avLst>
              <a:gd fmla="val 47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761695" y="2627071"/>
            <a:ext cx="28346" cy="2018995"/>
          </a:xfrm>
          <a:prstGeom prst="roundRect">
            <a:avLst>
              <a:gd fmla="val 335489" name="adj"/>
            </a:avLst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923544" y="2760574"/>
            <a:ext cx="4849063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JetBrains Mono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Përgjigjet individuale: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923544" y="3022092"/>
            <a:ext cx="599846" cy="267005"/>
          </a:xfrm>
          <a:prstGeom prst="roundRect">
            <a:avLst>
              <a:gd fmla="val 21575" name="adj"/>
            </a:avLst>
          </a:prstGeom>
          <a:solidFill>
            <a:srgbClr val="FEE2E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 txBox="1"/>
          <p:nvPr/>
        </p:nvSpPr>
        <p:spPr>
          <a:xfrm>
            <a:off x="923544" y="3022092"/>
            <a:ext cx="600761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" lIns="76200" spcFirstLastPara="1" rIns="762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JetBrains Mono"/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450 kg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636776" y="3022092"/>
            <a:ext cx="599846" cy="267005"/>
          </a:xfrm>
          <a:prstGeom prst="roundRect">
            <a:avLst>
              <a:gd fmla="val 21575" name="adj"/>
            </a:avLst>
          </a:prstGeom>
          <a:solidFill>
            <a:srgbClr val="FEE2E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 txBox="1"/>
          <p:nvPr/>
        </p:nvSpPr>
        <p:spPr>
          <a:xfrm>
            <a:off x="1636776" y="3022092"/>
            <a:ext cx="600761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" lIns="76200" spcFirstLastPara="1" rIns="762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JetBrains Mono"/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720 kg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2349094" y="3022092"/>
            <a:ext cx="599846" cy="267005"/>
          </a:xfrm>
          <a:prstGeom prst="roundRect">
            <a:avLst>
              <a:gd fmla="val 21575" name="adj"/>
            </a:avLst>
          </a:prstGeom>
          <a:solidFill>
            <a:srgbClr val="FEE2E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 txBox="1"/>
          <p:nvPr/>
        </p:nvSpPr>
        <p:spPr>
          <a:xfrm>
            <a:off x="2349094" y="3022092"/>
            <a:ext cx="600761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" lIns="76200" spcFirstLastPara="1" rIns="762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JetBrains Mono"/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380 kg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3061411" y="3022092"/>
            <a:ext cx="599846" cy="267005"/>
          </a:xfrm>
          <a:prstGeom prst="roundRect">
            <a:avLst>
              <a:gd fmla="val 21575" name="adj"/>
            </a:avLst>
          </a:prstGeom>
          <a:solidFill>
            <a:srgbClr val="FEE2E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 txBox="1"/>
          <p:nvPr/>
        </p:nvSpPr>
        <p:spPr>
          <a:xfrm>
            <a:off x="3061411" y="3022092"/>
            <a:ext cx="600761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" lIns="76200" spcFirstLastPara="1" rIns="762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JetBrains Mono"/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890 kg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 txBox="1"/>
          <p:nvPr/>
        </p:nvSpPr>
        <p:spPr>
          <a:xfrm>
            <a:off x="3774643" y="3022092"/>
            <a:ext cx="2211019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... shumë gabime individuale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923544" y="3378708"/>
            <a:ext cx="4849063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JetBrains Mono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Mesatarja e 800 përgjigjeve: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 txBox="1"/>
          <p:nvPr/>
        </p:nvSpPr>
        <p:spPr>
          <a:xfrm>
            <a:off x="923544" y="3621024"/>
            <a:ext cx="4849063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547 kg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923544" y="3973982"/>
            <a:ext cx="4849063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JetBrains Mono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Pesha reale: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 txBox="1"/>
          <p:nvPr/>
        </p:nvSpPr>
        <p:spPr>
          <a:xfrm>
            <a:off x="923544" y="4197096"/>
            <a:ext cx="4849063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543 kg ← vetëm 4 kg gabim!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761695" y="4778654"/>
            <a:ext cx="51435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Inter"/>
              <a:buNone/>
            </a:pPr>
            <a:r>
              <a:rPr b="0" i="1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Turma </a:t>
            </a:r>
            <a:r>
              <a:rPr b="1" i="1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bashkë</a:t>
            </a:r>
            <a:r>
              <a:rPr b="0" i="1" lang="en-US" sz="10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ishte më e saktë se çdo person individual. Kjo është pikërisht si mendon një Random Forest.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761695" y="2066544"/>
            <a:ext cx="178033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Në një panair në 1906,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 txBox="1"/>
          <p:nvPr/>
        </p:nvSpPr>
        <p:spPr>
          <a:xfrm>
            <a:off x="2256739" y="2066544"/>
            <a:ext cx="115671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Francis Galton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 txBox="1"/>
          <p:nvPr/>
        </p:nvSpPr>
        <p:spPr>
          <a:xfrm>
            <a:off x="761695" y="2066544"/>
            <a:ext cx="5020056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pa 800 njerëz që përpiqeshin të gjenin peshën e një demi.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 txBox="1"/>
          <p:nvPr/>
        </p:nvSpPr>
        <p:spPr>
          <a:xfrm>
            <a:off x="6476695" y="1714500"/>
            <a:ext cx="4953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2 kushte për një ensemble që punon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6476695" y="2095805"/>
            <a:ext cx="4953305" cy="1000354"/>
          </a:xfrm>
          <a:prstGeom prst="roundRect">
            <a:avLst>
              <a:gd fmla="val 950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6629400" y="2210105"/>
            <a:ext cx="304495" cy="304495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6629400" y="221010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7029907" y="2266798"/>
            <a:ext cx="384962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Modelet duhen të jenë </a:t>
            </a:r>
            <a:r>
              <a:rPr b="1" i="0" lang="en-US" sz="12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"mjaftueshëm mirë"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 txBox="1"/>
          <p:nvPr/>
        </p:nvSpPr>
        <p:spPr>
          <a:xfrm>
            <a:off x="6629400" y="2590495"/>
            <a:ext cx="4648810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Secila pemë më mirë se rastësia (&gt;50% për 2 klasa). Jo të përsosura — vetëm të përgjithësishme.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6476695" y="3183941"/>
            <a:ext cx="4953305" cy="1037844"/>
          </a:xfrm>
          <a:prstGeom prst="roundRect">
            <a:avLst>
              <a:gd fmla="val 9163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6648602" y="3317443"/>
            <a:ext cx="304495" cy="304495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6648602" y="3317443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 txBox="1"/>
          <p:nvPr/>
        </p:nvSpPr>
        <p:spPr>
          <a:xfrm>
            <a:off x="7067398" y="3374136"/>
            <a:ext cx="31629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Modelet duhen të jenë </a:t>
            </a:r>
            <a:r>
              <a:rPr b="1" i="0" lang="en-US" sz="12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të ndryshme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6648602" y="3698748"/>
            <a:ext cx="4610405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Nëse të gjitha janë identike, mesatarja nuk sjell asgjë të re. Duhen të </a:t>
            </a:r>
            <a:r>
              <a:rPr b="1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gabojnë ndryshe</a:t>
            </a: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— gabimet pastrohen kur i mesatarojmë.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 txBox="1"/>
          <p:nvPr/>
        </p:nvSpPr>
        <p:spPr>
          <a:xfrm>
            <a:off x="6667805" y="4667098"/>
            <a:ext cx="4572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Zgjidhja në Random Forest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6667805" y="4905756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Bootstrap sampling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jep dataset të ndryshëm çdo peme.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6667805" y="5164531"/>
            <a:ext cx="500359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Random feature selection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jep veçori të ndryshme çdo peme.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 txBox="1"/>
          <p:nvPr/>
        </p:nvSpPr>
        <p:spPr>
          <a:xfrm>
            <a:off x="6667805" y="5461711"/>
            <a:ext cx="4572000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900"/>
              <a:buFont typeface="Inter"/>
              <a:buNone/>
            </a:pPr>
            <a:r>
              <a:rPr b="0" i="1" lang="en-US" sz="9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Do t'i shohim me detaje në sllajdet e ardhshme.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ae0d8616539100ff16fb2f8c0ccf1a7a.png" id="311" name="Google Shape;311;p12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90589d74a3e7cccc815be5d788d3278b.png" id="312" name="Google Shape;312;p12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/>
          <p:nvPr/>
        </p:nvSpPr>
        <p:spPr>
          <a:xfrm>
            <a:off x="571500" y="1524305"/>
            <a:ext cx="11067898" cy="3258007"/>
          </a:xfrm>
          <a:prstGeom prst="roundRect">
            <a:avLst>
              <a:gd fmla="val 4098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561900" y="4924500"/>
            <a:ext cx="11049600" cy="1322700"/>
          </a:xfrm>
          <a:prstGeom prst="roundRect">
            <a:avLst>
              <a:gd fmla="val 10618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f9ee9114cd739503cac93faa7cfbe1ca.png" id="316" name="Google Shape;31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2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Çka është Random Forest?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Random Forest = shumë Decision Trees + një mekanizëm votimi. "Pyllin" e mbush me pemë të ndryshme.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31fa39362ff7001490cd6b6195383661.png" id="320" name="Google Shape;320;p12"/>
          <p:cNvPicPr preferRelativeResize="0"/>
          <p:nvPr/>
        </p:nvPicPr>
        <p:blipFill rotWithShape="1">
          <a:blip r:embed="rId6">
            <a:alphaModFix/>
          </a:blip>
          <a:srcRect b="0" l="-4" r="-4" t="0"/>
          <a:stretch/>
        </p:blipFill>
        <p:spPr>
          <a:xfrm>
            <a:off x="761695" y="1714500"/>
            <a:ext cx="10668305" cy="2952598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2"/>
          <p:cNvSpPr txBox="1"/>
          <p:nvPr/>
        </p:nvSpPr>
        <p:spPr>
          <a:xfrm>
            <a:off x="761695" y="5124298"/>
            <a:ext cx="509595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Definicioni në 1 fjali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761699" y="5362950"/>
            <a:ext cx="105435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Random Forest ndërton </a:t>
            </a:r>
            <a:r>
              <a:rPr b="1" i="0" lang="en-US" sz="1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 pemë të ndryshme</a:t>
            </a:r>
            <a:r>
              <a:rPr b="0" i="0" lang="en-US" sz="1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nga N versione bootstrap të dataset-it, çdo pemë sheh vetëm një </a:t>
            </a:r>
            <a:r>
              <a:rPr b="1" i="0" lang="en-US" sz="1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nëngrup rastësor veçorish</a:t>
            </a:r>
            <a:r>
              <a:rPr b="0" i="0" lang="en-US" sz="1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, dhe në fund </a:t>
            </a:r>
            <a:r>
              <a:rPr b="1" i="0" lang="en-US" sz="1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voton</a:t>
            </a:r>
            <a:r>
              <a:rPr b="0" i="0" lang="en-US" sz="1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 txBox="1"/>
          <p:nvPr/>
        </p:nvSpPr>
        <p:spPr>
          <a:xfrm>
            <a:off x="14087246" y="5467198"/>
            <a:ext cx="8595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JetBrains Mono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ae0d8616539100ff16fb2f8c0ccf1a7a.png" id="330" name="Google Shape;330;p13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90589d74a3e7cccc815be5d788d3278b.png" id="331" name="Google Shape;331;p13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3"/>
          <p:cNvSpPr/>
          <p:nvPr/>
        </p:nvSpPr>
        <p:spPr>
          <a:xfrm>
            <a:off x="571500" y="1524305"/>
            <a:ext cx="5544007" cy="4686300"/>
          </a:xfrm>
          <a:prstGeom prst="roundRect">
            <a:avLst>
              <a:gd fmla="val 2849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6286500" y="1524305"/>
            <a:ext cx="5352898" cy="4686300"/>
          </a:xfrm>
          <a:prstGeom prst="roundRect">
            <a:avLst>
              <a:gd fmla="val 2849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52ad937b5bde8c6ed395463662825d45.png" id="335" name="Google Shape;33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3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2 </a:t>
            </a:r>
            <a:r>
              <a:rPr b="1" lang="en-US" sz="21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mënyra</a:t>
            </a: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që i bëjnë pemët "të ndryshme"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Për të pasur pemë që gabojnë ndryshe, Random Forest u jep </a:t>
            </a:r>
            <a:r>
              <a:rPr b="1" i="0" lang="en-US" sz="12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të dhëna të ndryshme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dhe </a:t>
            </a:r>
            <a:r>
              <a:rPr b="1" i="0" lang="en-US" sz="12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veçori të ndryshme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761695" y="1714500"/>
            <a:ext cx="418795" cy="418795"/>
          </a:xfrm>
          <a:prstGeom prst="roundRect">
            <a:avLst>
              <a:gd fmla="val 27293" name="adj"/>
            </a:avLst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 txBox="1"/>
          <p:nvPr/>
        </p:nvSpPr>
        <p:spPr>
          <a:xfrm>
            <a:off x="924458" y="1800454"/>
            <a:ext cx="11338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 txBox="1"/>
          <p:nvPr/>
        </p:nvSpPr>
        <p:spPr>
          <a:xfrm>
            <a:off x="1295705" y="1752905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Bootstrap sampling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 txBox="1"/>
          <p:nvPr/>
        </p:nvSpPr>
        <p:spPr>
          <a:xfrm>
            <a:off x="1295705" y="2000707"/>
            <a:ext cx="457200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4A1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7C4A1A"/>
                </a:solidFill>
                <a:latin typeface="Inter"/>
                <a:ea typeface="Inter"/>
                <a:cs typeface="Inter"/>
                <a:sym typeface="Inter"/>
              </a:rPr>
              <a:t>Të dhëna të ndryshme për çdo pemë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 txBox="1"/>
          <p:nvPr/>
        </p:nvSpPr>
        <p:spPr>
          <a:xfrm>
            <a:off x="761695" y="2333549"/>
            <a:ext cx="514350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Nga një dataset me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 mostra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, RF krijon N mostra të reja për çdo pemë duke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zgjedhur me zëvendësim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— disa mostra dalin 2× ose 3×, disa nuk dalin fare.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fd2915f397c6051c3c95e74fc2b29083.png" id="344" name="Google Shape;344;p13"/>
          <p:cNvPicPr preferRelativeResize="0"/>
          <p:nvPr/>
        </p:nvPicPr>
        <p:blipFill rotWithShape="1">
          <a:blip r:embed="rId6">
            <a:alphaModFix/>
          </a:blip>
          <a:srcRect b="0" l="-3" r="-3" t="0"/>
          <a:stretch/>
        </p:blipFill>
        <p:spPr>
          <a:xfrm>
            <a:off x="761695" y="3000146"/>
            <a:ext cx="5143500" cy="238109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3"/>
          <p:cNvSpPr/>
          <p:nvPr/>
        </p:nvSpPr>
        <p:spPr>
          <a:xfrm>
            <a:off x="6476695" y="1714500"/>
            <a:ext cx="418795" cy="418795"/>
          </a:xfrm>
          <a:prstGeom prst="roundRect">
            <a:avLst>
              <a:gd fmla="val 27293" name="adj"/>
            </a:avLst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 txBox="1"/>
          <p:nvPr/>
        </p:nvSpPr>
        <p:spPr>
          <a:xfrm>
            <a:off x="6618427" y="1800454"/>
            <a:ext cx="143561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 txBox="1"/>
          <p:nvPr/>
        </p:nvSpPr>
        <p:spPr>
          <a:xfrm>
            <a:off x="7010705" y="1752905"/>
            <a:ext cx="43818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Random feature selection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 txBox="1"/>
          <p:nvPr/>
        </p:nvSpPr>
        <p:spPr>
          <a:xfrm>
            <a:off x="7010705" y="2000707"/>
            <a:ext cx="43818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Veçori të ndryshme për çdo split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 txBox="1"/>
          <p:nvPr/>
        </p:nvSpPr>
        <p:spPr>
          <a:xfrm>
            <a:off x="6476695" y="2333549"/>
            <a:ext cx="4953305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Në çdo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split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, RF nuk sheh të gjitha veçoritë. Zgjedh vetëm një </a:t>
            </a:r>
            <a:r>
              <a:rPr b="1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nëngrup rastësor</a:t>
            </a:r>
            <a:r>
              <a:rPr b="0" i="0" lang="en-US" sz="1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(p.sh. √p prej p veçorive) dhe zgjedh më të mirën vetëm nga aty.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f8a395d87d799df6f49ebdcc646a63d1.png" id="350" name="Google Shape;350;p13"/>
          <p:cNvPicPr preferRelativeResize="0"/>
          <p:nvPr/>
        </p:nvPicPr>
        <p:blipFill rotWithShape="1">
          <a:blip r:embed="rId7">
            <a:alphaModFix/>
          </a:blip>
          <a:srcRect b="-4" l="0" r="0" t="-4"/>
          <a:stretch/>
        </p:blipFill>
        <p:spPr>
          <a:xfrm>
            <a:off x="6476695" y="3000146"/>
            <a:ext cx="4953305" cy="209580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3"/>
          <p:cNvSpPr/>
          <p:nvPr/>
        </p:nvSpPr>
        <p:spPr>
          <a:xfrm>
            <a:off x="6476695" y="5286146"/>
            <a:ext cx="4953305" cy="790956"/>
          </a:xfrm>
          <a:prstGeom prst="roundRect">
            <a:avLst>
              <a:gd fmla="val 120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6476695" y="5286146"/>
            <a:ext cx="28346" cy="790956"/>
          </a:xfrm>
          <a:prstGeom prst="roundRect">
            <a:avLst>
              <a:gd fmla="val 335489" name="adj"/>
            </a:avLst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 txBox="1"/>
          <p:nvPr/>
        </p:nvSpPr>
        <p:spPr>
          <a:xfrm>
            <a:off x="6638544" y="5400446"/>
            <a:ext cx="4657954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Pse?</a:t>
            </a:r>
            <a:r>
              <a:rPr b="0" i="0" lang="en-US" sz="9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 Nëse një veçori është "shumë e fortë", çdo pemë do t'a zgjidhte të parën → të gjitha do të ishin njësoj. Duke fshehur disa veçori, i detyrojmë të mësojnë </a:t>
            </a:r>
            <a:r>
              <a:rPr b="1" i="0" lang="en-US" sz="9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marrëdhënie të ndryshme</a:t>
            </a:r>
            <a:r>
              <a:rPr b="0" i="0" lang="en-US" sz="9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ae0d8616539100ff16fb2f8c0ccf1a7a.png" id="360" name="Google Shape;360;p14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90589d74a3e7cccc815be5d788d3278b.png" id="361" name="Google Shape;361;p14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4"/>
          <p:cNvSpPr/>
          <p:nvPr/>
        </p:nvSpPr>
        <p:spPr>
          <a:xfrm>
            <a:off x="571500" y="1524305"/>
            <a:ext cx="11067898" cy="3258007"/>
          </a:xfrm>
          <a:prstGeom prst="roundRect">
            <a:avLst>
              <a:gd fmla="val 409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571500" y="4953305"/>
            <a:ext cx="11048695" cy="1238098"/>
          </a:xfrm>
          <a:prstGeom prst="roundRect">
            <a:avLst>
              <a:gd fmla="val 10783" name="adj"/>
            </a:avLst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06825dd5a6fbf177015ba5f5ddc771a0.png" id="365" name="Google Shape;36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4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Tree vs Forest — variance dhe stabilitet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 txBox="1"/>
          <p:nvPr/>
        </p:nvSpPr>
        <p:spPr>
          <a:xfrm>
            <a:off x="571500" y="1009498"/>
            <a:ext cx="11049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RF redukton variance-in duke </a:t>
            </a:r>
            <a:r>
              <a:rPr b="1" lang="en-US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gjetur mesataren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 shumë pemëve të ndryshme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9" name="Google Shape;369;p14"/>
          <p:cNvGraphicFramePr/>
          <p:nvPr/>
        </p:nvGraphicFramePr>
        <p:xfrm>
          <a:off x="761695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{AC5837C2-481E-4DE9-9919-09DC4A473B4A}</a:tableStyleId>
              </a:tblPr>
              <a:tblGrid>
                <a:gridCol w="2400300"/>
                <a:gridCol w="3437225"/>
                <a:gridCol w="4829850"/>
              </a:tblGrid>
              <a:tr h="40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6B72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ASPEKT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 (1 PEMË)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7316"/>
                        </a:buClr>
                        <a:buSzPts val="825"/>
                        <a:buFont typeface="Inter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F973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 (100+ PEMË)</a:t>
                      </a:r>
                      <a:endParaRPr sz="825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50"/>
                        <a:buFont typeface="Inter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Variance</a:t>
                      </a:r>
                      <a:endParaRPr sz="10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50"/>
                        <a:buFont typeface="Inter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 lartë</a:t>
                      </a:r>
                      <a:r>
                        <a:rPr lang="en-US" sz="105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— ndryshon shumë me të dhëna të reja</a:t>
                      </a:r>
                      <a:endParaRPr sz="1200" u="none" cap="none" strike="noStrike"/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050"/>
                        <a:buFont typeface="Inter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 ulët</a:t>
                      </a:r>
                      <a:r>
                        <a:rPr lang="en-US" sz="1050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— </a:t>
                      </a:r>
                      <a:r>
                        <a:rPr lang="en-US" sz="1050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mesatarja</a:t>
                      </a:r>
                      <a:r>
                        <a:rPr lang="en-US" sz="1050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050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zvoglon</a:t>
                      </a:r>
                      <a:r>
                        <a:rPr lang="en-US" sz="1050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gabimet</a:t>
                      </a:r>
                      <a:endParaRPr sz="1200" u="none" cap="none" strike="noStrike"/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50"/>
                        <a:buFont typeface="Inter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Overfitting</a:t>
                      </a:r>
                      <a:endParaRPr sz="10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50"/>
                        <a:buFont typeface="Inter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 shpeshtë</a:t>
                      </a:r>
                      <a:r>
                        <a:rPr lang="en-US" sz="105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nëse nuk kufizohet</a:t>
                      </a:r>
                      <a:endParaRPr sz="1200" u="none" cap="none" strike="noStrike"/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050"/>
                        <a:buFont typeface="Inter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Rrallë</a:t>
                      </a:r>
                      <a:r>
                        <a:rPr lang="en-US" sz="1050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— vetë-korrigjohet</a:t>
                      </a:r>
                      <a:endParaRPr sz="1200" u="none" cap="none" strike="noStrike"/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50"/>
                        <a:buFont typeface="Inter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Interpretim</a:t>
                      </a:r>
                      <a:endParaRPr sz="10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050"/>
                        <a:buFont typeface="Inter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 lehtë</a:t>
                      </a:r>
                      <a:r>
                        <a:rPr lang="en-US" sz="1050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— mund të vizatohet e gjitha</a:t>
                      </a:r>
                      <a:endParaRPr sz="1200" u="none" cap="none" strike="noStrike"/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7316"/>
                        </a:buClr>
                        <a:buSzPts val="1050"/>
                        <a:buFont typeface="Inter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973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Më i vështirë</a:t>
                      </a:r>
                      <a:r>
                        <a:rPr lang="en-US" sz="1050" u="none" cap="none" strike="noStrike">
                          <a:solidFill>
                            <a:srgbClr val="F973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— 100 pemë s'lexohen. </a:t>
                      </a:r>
                      <a:endParaRPr sz="1200" u="none" cap="none" strike="noStrike"/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50"/>
                        <a:buFont typeface="Inter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Shpejtësia</a:t>
                      </a:r>
                      <a:endParaRPr sz="10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050"/>
                        <a:buFont typeface="Inter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Shumë e shpejtë</a:t>
                      </a:r>
                      <a:endParaRPr sz="1200" u="none" cap="none" strike="noStrike"/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7316"/>
                        </a:buClr>
                        <a:buSzPts val="1050"/>
                        <a:buFont typeface="Inter"/>
                        <a:buNone/>
                      </a:pPr>
                      <a:r>
                        <a:rPr lang="en-US" sz="1050" u="none" cap="none" strike="noStrike">
                          <a:solidFill>
                            <a:srgbClr val="F973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~100× më ngadalë (mund të paralelizohet me </a:t>
                      </a:r>
                      <a:r>
                        <a:rPr lang="en-US" sz="900" u="none" cap="none" strike="noStrike">
                          <a:solidFill>
                            <a:srgbClr val="F9731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n_jobs=-1</a:t>
                      </a:r>
                      <a:r>
                        <a:rPr lang="en-US" sz="1050" u="none" cap="none" strike="noStrike">
                          <a:solidFill>
                            <a:srgbClr val="F973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sz="1200" u="none" cap="none" strike="noStrike"/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050"/>
                        <a:buFont typeface="Inter"/>
                        <a:buNone/>
                      </a:pPr>
                      <a:r>
                        <a:rPr b="1" lang="en-US" sz="105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Saktësia</a:t>
                      </a:r>
                      <a:endParaRPr sz="10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563"/>
                        </a:buClr>
                        <a:buSzPts val="1050"/>
                        <a:buFont typeface="Inter"/>
                        <a:buNone/>
                      </a:pPr>
                      <a:r>
                        <a:rPr lang="en-US" sz="105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Baseline i mirë · shpjegim</a:t>
                      </a:r>
                      <a:endParaRPr sz="105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050"/>
                        <a:buFont typeface="Inter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Zgjedhja e parë</a:t>
                      </a:r>
                      <a:r>
                        <a:rPr lang="en-US" sz="1050" u="none" cap="none" strike="noStrike">
                          <a:solidFill>
                            <a:srgbClr val="0F76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për shumicën e problemeve me të dhëna tabelare</a:t>
                      </a:r>
                      <a:endParaRPr sz="1200" u="none" cap="none" strike="noStrike"/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0" name="Google Shape;370;p14"/>
          <p:cNvSpPr txBox="1"/>
          <p:nvPr/>
        </p:nvSpPr>
        <p:spPr>
          <a:xfrm>
            <a:off x="857707" y="5124298"/>
            <a:ext cx="104781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Rregulli praktik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 txBox="1"/>
          <p:nvPr/>
        </p:nvSpPr>
        <p:spPr>
          <a:xfrm>
            <a:off x="857707" y="5429707"/>
            <a:ext cx="104781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Përdor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Decision Tree</a:t>
            </a:r>
            <a:r>
              <a:rPr b="0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 kur </a:t>
            </a:r>
            <a:r>
              <a:rPr b="1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duhet të shpjegosh</a:t>
            </a:r>
            <a:r>
              <a:rPr b="0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 vendimin te menaxheri (ai lexohet). Përdor </a:t>
            </a:r>
            <a:r>
              <a:rPr b="1" i="0" lang="en-US" sz="10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r>
              <a:rPr b="0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 kur </a:t>
            </a:r>
            <a:r>
              <a:rPr b="1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duhet performancë</a:t>
            </a:r>
            <a:r>
              <a:rPr b="0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 — sepse është pothuajse gjithmonë më i saktë me pak konfigurim. RF nuk përjashton Trees — ai i përdor 100+ prej tyre së brendshmi.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f71b8e4fd025b9dc618bf5ab305be868.png" id="378" name="Google Shape;378;p15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351e0a4361c90357b6760b5ab718b8b.png" id="379" name="Google Shape;379;p15"/>
          <p:cNvPicPr preferRelativeResize="0"/>
          <p:nvPr/>
        </p:nvPicPr>
        <p:blipFill rotWithShape="1">
          <a:blip r:embed="rId4">
            <a:alphaModFix/>
          </a:blip>
          <a:srcRect b="-401" l="0" r="0" t="-401"/>
          <a:stretch/>
        </p:blipFill>
        <p:spPr>
          <a:xfrm>
            <a:off x="0" y="705002"/>
            <a:ext cx="1219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5"/>
          <p:cNvSpPr/>
          <p:nvPr/>
        </p:nvSpPr>
        <p:spPr>
          <a:xfrm>
            <a:off x="571500" y="1524305"/>
            <a:ext cx="3638398" cy="3295498"/>
          </a:xfrm>
          <a:prstGeom prst="roundRect">
            <a:avLst>
              <a:gd fmla="val 346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571500" y="1524305"/>
            <a:ext cx="3638398" cy="47549"/>
          </a:xfrm>
          <a:prstGeom prst="roundRect">
            <a:avLst>
              <a:gd fmla="val 240384" name="adj"/>
            </a:avLst>
          </a:prstGeom>
          <a:solidFill>
            <a:srgbClr val="6B7280"/>
          </a:solidFill>
          <a:ln cap="flat" cmpd="sng" w="12700">
            <a:solidFill>
              <a:srgbClr val="6B728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4286707" y="1524305"/>
            <a:ext cx="3638398" cy="3295498"/>
          </a:xfrm>
          <a:prstGeom prst="roundRect">
            <a:avLst>
              <a:gd fmla="val 346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4286707" y="1524305"/>
            <a:ext cx="3638398" cy="47549"/>
          </a:xfrm>
          <a:prstGeom prst="roundRect">
            <a:avLst>
              <a:gd fmla="val 240384" name="adj"/>
            </a:avLst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8001000" y="1524305"/>
            <a:ext cx="3638398" cy="3295498"/>
          </a:xfrm>
          <a:prstGeom prst="roundRect">
            <a:avLst>
              <a:gd fmla="val 346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8001000" y="1524305"/>
            <a:ext cx="3638398" cy="47549"/>
          </a:xfrm>
          <a:prstGeom prst="roundRect">
            <a:avLst>
              <a:gd fmla="val 240384" name="adj"/>
            </a:avLst>
          </a:prstGeom>
          <a:solidFill>
            <a:srgbClr val="F97316"/>
          </a:solidFill>
          <a:ln cap="flat" cmpd="sng" w="12700">
            <a:solidFill>
              <a:srgbClr val="F97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571500" y="247802"/>
            <a:ext cx="342900" cy="3429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9ee49bde053617865291c49b9fd60c67.png" id="387" name="Google Shape;38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4" y="3337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5"/>
          <p:cNvSpPr txBox="1"/>
          <p:nvPr/>
        </p:nvSpPr>
        <p:spPr>
          <a:xfrm>
            <a:off x="1067105" y="247802"/>
            <a:ext cx="7620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Praktikë — 3 modele mbi churn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 txBox="1"/>
          <p:nvPr/>
        </p:nvSpPr>
        <p:spPr>
          <a:xfrm>
            <a:off x="8572500" y="323698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Machine Learning | Modeli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 txBox="1"/>
          <p:nvPr/>
        </p:nvSpPr>
        <p:spPr>
          <a:xfrm>
            <a:off x="571500" y="1009498"/>
            <a:ext cx="1104961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Të njëjtat të dhëna, i njëjti test set. Rezultatet e vërteta nga </a:t>
            </a:r>
            <a:r>
              <a:rPr b="1" i="0" lang="en-US" sz="1200" u="none" cap="none" strike="noStrike">
                <a:solidFill>
                  <a:srgbClr val="0F766E"/>
                </a:solidFill>
                <a:highlight>
                  <a:srgbClr val="F0FDF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 employees_enhanced.csv </a:t>
            </a:r>
            <a:r>
              <a:rPr b="1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 txBox="1"/>
          <p:nvPr/>
        </p:nvSpPr>
        <p:spPr>
          <a:xfrm>
            <a:off x="761695" y="1714500"/>
            <a:ext cx="32388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Logistic Regression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 txBox="1"/>
          <p:nvPr/>
        </p:nvSpPr>
        <p:spPr>
          <a:xfrm>
            <a:off x="761695" y="1962302"/>
            <a:ext cx="3238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baseline · linear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761695" y="2286000"/>
            <a:ext cx="1580998" cy="580644"/>
          </a:xfrm>
          <a:prstGeom prst="roundRect">
            <a:avLst>
              <a:gd fmla="val 13071" name="adj"/>
            </a:avLst>
          </a:prstGeom>
          <a:solidFill>
            <a:srgbClr val="F9FAF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 txBox="1"/>
          <p:nvPr/>
        </p:nvSpPr>
        <p:spPr>
          <a:xfrm>
            <a:off x="875995" y="2381098"/>
            <a:ext cx="1353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Accuracy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 txBox="1"/>
          <p:nvPr/>
        </p:nvSpPr>
        <p:spPr>
          <a:xfrm>
            <a:off x="875995" y="2495398"/>
            <a:ext cx="1353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0.70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2419502" y="2286000"/>
            <a:ext cx="1580998" cy="580644"/>
          </a:xfrm>
          <a:prstGeom prst="roundRect">
            <a:avLst>
              <a:gd fmla="val 13071" name="adj"/>
            </a:avLst>
          </a:prstGeom>
          <a:solidFill>
            <a:srgbClr val="F9FAF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 txBox="1"/>
          <p:nvPr/>
        </p:nvSpPr>
        <p:spPr>
          <a:xfrm>
            <a:off x="2533802" y="2381098"/>
            <a:ext cx="1353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F1-Score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 txBox="1"/>
          <p:nvPr/>
        </p:nvSpPr>
        <p:spPr>
          <a:xfrm>
            <a:off x="2533802" y="2495398"/>
            <a:ext cx="1353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0.62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761695" y="2943454"/>
            <a:ext cx="1580998" cy="580644"/>
          </a:xfrm>
          <a:prstGeom prst="roundRect">
            <a:avLst>
              <a:gd fmla="val 13071" name="adj"/>
            </a:avLst>
          </a:prstGeom>
          <a:solidFill>
            <a:srgbClr val="F9FAF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 txBox="1"/>
          <p:nvPr/>
        </p:nvSpPr>
        <p:spPr>
          <a:xfrm>
            <a:off x="875995" y="3038551"/>
            <a:ext cx="1353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Precision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 txBox="1"/>
          <p:nvPr/>
        </p:nvSpPr>
        <p:spPr>
          <a:xfrm>
            <a:off x="875995" y="3152851"/>
            <a:ext cx="1353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0.67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2419502" y="2943454"/>
            <a:ext cx="1580998" cy="580644"/>
          </a:xfrm>
          <a:prstGeom prst="roundRect">
            <a:avLst>
              <a:gd fmla="val 13071" name="adj"/>
            </a:avLst>
          </a:prstGeom>
          <a:solidFill>
            <a:srgbClr val="F9FAF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 txBox="1"/>
          <p:nvPr/>
        </p:nvSpPr>
        <p:spPr>
          <a:xfrm>
            <a:off x="2533802" y="3038551"/>
            <a:ext cx="1353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Recall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 txBox="1"/>
          <p:nvPr/>
        </p:nvSpPr>
        <p:spPr>
          <a:xfrm>
            <a:off x="2533802" y="3152851"/>
            <a:ext cx="1353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0.57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 txBox="1"/>
          <p:nvPr/>
        </p:nvSpPr>
        <p:spPr>
          <a:xfrm>
            <a:off x="761695" y="3638398"/>
            <a:ext cx="32388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1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Vijë e drejtë — s'kap dot ndarjet komplekse.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 txBox="1"/>
          <p:nvPr/>
        </p:nvSpPr>
        <p:spPr>
          <a:xfrm>
            <a:off x="4476902" y="1714500"/>
            <a:ext cx="32388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Decision Tree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 txBox="1"/>
          <p:nvPr/>
        </p:nvSpPr>
        <p:spPr>
          <a:xfrm>
            <a:off x="4476902" y="1962302"/>
            <a:ext cx="3238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max_depth=4 · min_samples_leaf=10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4476902" y="2286000"/>
            <a:ext cx="1580998" cy="580644"/>
          </a:xfrm>
          <a:prstGeom prst="roundRect">
            <a:avLst>
              <a:gd fmla="val 13071" name="adj"/>
            </a:avLst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 txBox="1"/>
          <p:nvPr/>
        </p:nvSpPr>
        <p:spPr>
          <a:xfrm>
            <a:off x="4591202" y="2381098"/>
            <a:ext cx="1353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Accuracy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 txBox="1"/>
          <p:nvPr/>
        </p:nvSpPr>
        <p:spPr>
          <a:xfrm>
            <a:off x="4591202" y="2495398"/>
            <a:ext cx="1353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0.75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6133795" y="2286000"/>
            <a:ext cx="1580998" cy="580644"/>
          </a:xfrm>
          <a:prstGeom prst="roundRect">
            <a:avLst>
              <a:gd fmla="val 13071" name="adj"/>
            </a:avLst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5"/>
          <p:cNvSpPr txBox="1"/>
          <p:nvPr/>
        </p:nvSpPr>
        <p:spPr>
          <a:xfrm>
            <a:off x="6248095" y="2381098"/>
            <a:ext cx="1353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F1-Score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 txBox="1"/>
          <p:nvPr/>
        </p:nvSpPr>
        <p:spPr>
          <a:xfrm>
            <a:off x="6248095" y="2495398"/>
            <a:ext cx="1353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0.71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4476902" y="2943454"/>
            <a:ext cx="1580998" cy="580644"/>
          </a:xfrm>
          <a:prstGeom prst="roundRect">
            <a:avLst>
              <a:gd fmla="val 13071" name="adj"/>
            </a:avLst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 txBox="1"/>
          <p:nvPr/>
        </p:nvSpPr>
        <p:spPr>
          <a:xfrm>
            <a:off x="4591202" y="3038551"/>
            <a:ext cx="1353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Precision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 txBox="1"/>
          <p:nvPr/>
        </p:nvSpPr>
        <p:spPr>
          <a:xfrm>
            <a:off x="4591202" y="3152851"/>
            <a:ext cx="1353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0.75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6133795" y="2943454"/>
            <a:ext cx="1580998" cy="580644"/>
          </a:xfrm>
          <a:prstGeom prst="roundRect">
            <a:avLst>
              <a:gd fmla="val 13071" name="adj"/>
            </a:avLst>
          </a:prstGeom>
          <a:solidFill>
            <a:srgbClr val="F0FD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"/>
          <p:cNvSpPr txBox="1"/>
          <p:nvPr/>
        </p:nvSpPr>
        <p:spPr>
          <a:xfrm>
            <a:off x="6248095" y="3038551"/>
            <a:ext cx="1353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Recall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6248095" y="3152851"/>
            <a:ext cx="1353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0.67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4476902" y="3638398"/>
            <a:ext cx="32388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1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Kapi ndarjet jo-lineare, por është i brishtë.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8191195" y="1714500"/>
            <a:ext cx="32388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Random Forest 🏆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8191195" y="1962302"/>
            <a:ext cx="3238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n_estimators=100 · max_depth=6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8191195" y="2286000"/>
            <a:ext cx="1580998" cy="580644"/>
          </a:xfrm>
          <a:prstGeom prst="roundRect">
            <a:avLst>
              <a:gd fmla="val 1307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 txBox="1"/>
          <p:nvPr/>
        </p:nvSpPr>
        <p:spPr>
          <a:xfrm>
            <a:off x="8305495" y="2381098"/>
            <a:ext cx="1353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Accuracy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8305495" y="2495398"/>
            <a:ext cx="1353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0.85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9849002" y="2286000"/>
            <a:ext cx="1580998" cy="580644"/>
          </a:xfrm>
          <a:prstGeom prst="roundRect">
            <a:avLst>
              <a:gd fmla="val 1307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 txBox="1"/>
          <p:nvPr/>
        </p:nvSpPr>
        <p:spPr>
          <a:xfrm>
            <a:off x="9963302" y="2381098"/>
            <a:ext cx="1353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F1-Score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 txBox="1"/>
          <p:nvPr/>
        </p:nvSpPr>
        <p:spPr>
          <a:xfrm>
            <a:off x="9963302" y="2495398"/>
            <a:ext cx="1353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0.82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8191195" y="2943454"/>
            <a:ext cx="1580998" cy="580644"/>
          </a:xfrm>
          <a:prstGeom prst="roundRect">
            <a:avLst>
              <a:gd fmla="val 1307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5"/>
          <p:cNvSpPr txBox="1"/>
          <p:nvPr/>
        </p:nvSpPr>
        <p:spPr>
          <a:xfrm>
            <a:off x="8305495" y="3038551"/>
            <a:ext cx="1353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Precision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8305495" y="3152851"/>
            <a:ext cx="1353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0.85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9849002" y="2943454"/>
            <a:ext cx="1580998" cy="580644"/>
          </a:xfrm>
          <a:prstGeom prst="roundRect">
            <a:avLst>
              <a:gd fmla="val 13071" name="adj"/>
            </a:avLst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 txBox="1"/>
          <p:nvPr/>
        </p:nvSpPr>
        <p:spPr>
          <a:xfrm>
            <a:off x="9963302" y="3038551"/>
            <a:ext cx="1353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Recall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 txBox="1"/>
          <p:nvPr/>
        </p:nvSpPr>
        <p:spPr>
          <a:xfrm>
            <a:off x="9963302" y="3152851"/>
            <a:ext cx="1353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0.78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 txBox="1"/>
          <p:nvPr/>
        </p:nvSpPr>
        <p:spPr>
          <a:xfrm>
            <a:off x="8191195" y="3638398"/>
            <a:ext cx="32388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Inter"/>
              <a:buNone/>
            </a:pPr>
            <a:r>
              <a:rPr b="0" i="1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Më i saktë dhe më i qëndrueshëm.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 txBox="1"/>
          <p:nvPr/>
        </p:nvSpPr>
        <p:spPr>
          <a:xfrm>
            <a:off x="10953598" y="6515100"/>
            <a:ext cx="952805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Faqja 1</a:t>
            </a: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571500" y="4953300"/>
            <a:ext cx="11134800" cy="829800"/>
          </a:xfrm>
          <a:prstGeom prst="roundRect">
            <a:avLst>
              <a:gd fmla="val 14012" name="adj"/>
            </a:avLst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5"/>
          <p:cNvSpPr txBox="1"/>
          <p:nvPr/>
        </p:nvSpPr>
        <p:spPr>
          <a:xfrm>
            <a:off x="875998" y="5124305"/>
            <a:ext cx="67254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Modeli 6 → Si t'i besojmë numrave të modelit?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 txBox="1"/>
          <p:nvPr/>
        </p:nvSpPr>
        <p:spPr>
          <a:xfrm>
            <a:off x="876000" y="5315400"/>
            <a:ext cx="7773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Cross-Validation, K-Fold, Stratified, Bootstrapping — mekanizmat që na thonë </a:t>
            </a:r>
            <a:r>
              <a:rPr b="1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sa i besueshëm</a:t>
            </a:r>
            <a:r>
              <a:rPr b="0" i="0" lang="en-US" sz="1000" u="none" cap="none" strike="noStrike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rPr>
              <a:t> është një score.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