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12192000"/>
  <p:embeddedFontLst>
    <p:embeddedFont>
      <p:font typeface="Inter"/>
      <p:regular r:id="rId21"/>
      <p:bold r:id="rId22"/>
      <p:italic r:id="rId23"/>
      <p:boldItalic r:id="rId24"/>
    </p:embeddedFont>
    <p:embeddedFont>
      <p:font typeface="JetBrains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5BB7AA3-F1BD-4F27-B150-AD27E9DF071E}">
  <a:tblStyle styleId="{B5BB7AA3-F1BD-4F27-B150-AD27E9DF071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Inter-bold.fntdata"/><Relationship Id="rId21" Type="http://schemas.openxmlformats.org/officeDocument/2006/relationships/font" Target="fonts/Inter-regular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JetBrainsMono-bold.fntdata"/><Relationship Id="rId25" Type="http://schemas.openxmlformats.org/officeDocument/2006/relationships/font" Target="fonts/JetBrainsMono-regular.fntdata"/><Relationship Id="rId28" Type="http://schemas.openxmlformats.org/officeDocument/2006/relationships/font" Target="fonts/JetBrainsMono-boldItalic.fntdata"/><Relationship Id="rId27" Type="http://schemas.openxmlformats.org/officeDocument/2006/relationships/font" Target="fonts/JetBrains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17.png"/><Relationship Id="rId7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62.png"/><Relationship Id="rId6" Type="http://schemas.openxmlformats.org/officeDocument/2006/relationships/image" Target="../media/image10.png"/><Relationship Id="rId7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8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6.png"/><Relationship Id="rId6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3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41.png"/><Relationship Id="rId6" Type="http://schemas.openxmlformats.org/officeDocument/2006/relationships/image" Target="../media/image39.png"/><Relationship Id="rId7" Type="http://schemas.openxmlformats.org/officeDocument/2006/relationships/image" Target="../media/image5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33.png"/><Relationship Id="rId6" Type="http://schemas.openxmlformats.org/officeDocument/2006/relationships/image" Target="../media/image42.png"/><Relationship Id="rId7" Type="http://schemas.openxmlformats.org/officeDocument/2006/relationships/image" Target="../media/image4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10" Type="http://schemas.openxmlformats.org/officeDocument/2006/relationships/image" Target="../media/image40.png"/><Relationship Id="rId9" Type="http://schemas.openxmlformats.org/officeDocument/2006/relationships/image" Target="../media/image36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8.png"/><Relationship Id="rId8" Type="http://schemas.openxmlformats.org/officeDocument/2006/relationships/image" Target="../media/image4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4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5.png"/><Relationship Id="rId4" Type="http://schemas.openxmlformats.org/officeDocument/2006/relationships/image" Target="../media/image59.png"/><Relationship Id="rId5" Type="http://schemas.openxmlformats.org/officeDocument/2006/relationships/image" Target="../media/image63.png"/><Relationship Id="rId6" Type="http://schemas.openxmlformats.org/officeDocument/2006/relationships/image" Target="../media/image5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61.png"/><Relationship Id="rId6" Type="http://schemas.openxmlformats.org/officeDocument/2006/relationships/image" Target="../media/image57.png"/><Relationship Id="rId7" Type="http://schemas.openxmlformats.org/officeDocument/2006/relationships/image" Target="../media/image5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66.png"/><Relationship Id="rId6" Type="http://schemas.openxmlformats.org/officeDocument/2006/relationships/image" Target="../media/image6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0001707" y="-1143000"/>
            <a:ext cx="3238805" cy="3238805"/>
          </a:xfrm>
          <a:prstGeom prst="ellipse">
            <a:avLst/>
          </a:prstGeom>
          <a:solidFill>
            <a:srgbClr val="D1FAE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0858500" y="-381305"/>
            <a:ext cx="1714500" cy="1714500"/>
          </a:xfrm>
          <a:prstGeom prst="ellipse">
            <a:avLst/>
          </a:prstGeom>
          <a:solidFill>
            <a:srgbClr val="F0FD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-1333195" y="4190695"/>
            <a:ext cx="3810305" cy="3810305"/>
          </a:xfrm>
          <a:prstGeom prst="ellipse">
            <a:avLst/>
          </a:prstGeom>
          <a:solidFill>
            <a:srgbClr val="FEF3E8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f71b8e4fd025b9dc618bf5ab305be868.png" id="19" name="Google Shape;19;p3"/>
          <p:cNvPicPr preferRelativeResize="0"/>
          <p:nvPr/>
        </p:nvPicPr>
        <p:blipFill rotWithShape="1">
          <a:blip r:embed="rId3">
            <a:alphaModFix/>
          </a:blip>
          <a:srcRect b="0" l="-200" r="-200" t="0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f71b8e4fd025b9dc618bf5ab305be868.png" id="20" name="Google Shape;20;p3"/>
          <p:cNvPicPr preferRelativeResize="0"/>
          <p:nvPr/>
        </p:nvPicPr>
        <p:blipFill rotWithShape="1">
          <a:blip r:embed="rId3">
            <a:alphaModFix/>
          </a:blip>
          <a:srcRect b="0" l="-200" r="-200" t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/>
          <p:nvPr/>
        </p:nvSpPr>
        <p:spPr>
          <a:xfrm>
            <a:off x="5619902" y="1429207"/>
            <a:ext cx="952805" cy="952805"/>
          </a:xfrm>
          <a:prstGeom prst="ellipse">
            <a:avLst/>
          </a:prstGeom>
          <a:solidFill>
            <a:srgbClr val="F0FD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121441eac7a91864db68bf45cd094cac.png" id="22" name="Google Shape;2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6849" y="1686154"/>
            <a:ext cx="437998" cy="437998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761695" y="2762402"/>
            <a:ext cx="1066830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3900"/>
              <a:buFont typeface="Inter"/>
              <a:buNone/>
            </a:pPr>
            <a:r>
              <a:rPr b="1" lang="en-US" sz="3900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Cross-Validation &amp; Bootstrapping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Inter"/>
              <a:buNone/>
            </a:pPr>
            <a:r>
              <a:t/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92bdef3ec7b01ff2065c995816bb5221.png" id="24" name="Google Shape;24;p3"/>
          <p:cNvPicPr preferRelativeResize="0"/>
          <p:nvPr/>
        </p:nvPicPr>
        <p:blipFill rotWithShape="1">
          <a:blip r:embed="rId5">
            <a:alphaModFix/>
          </a:blip>
          <a:srcRect b="-420" l="0" r="0" t="-420"/>
          <a:stretch/>
        </p:blipFill>
        <p:spPr>
          <a:xfrm>
            <a:off x="5619900" y="3505355"/>
            <a:ext cx="761695" cy="38405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761700" y="3617750"/>
            <a:ext cx="106683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Machine Learning · Modeli 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3663086" y="5286146"/>
            <a:ext cx="808330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K-Fold CV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4758f35638b9391efba97b927cbd1976.png" id="27" name="Google Shape;2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15284" y="5290718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 txBox="1"/>
          <p:nvPr/>
        </p:nvSpPr>
        <p:spPr>
          <a:xfrm>
            <a:off x="4891126" y="5286146"/>
            <a:ext cx="2518258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Stratified · Time Series · Group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4758f35638b9391efba97b927cbd1976.png" id="29" name="Google Shape;29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43323" y="5290718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3"/>
          <p:cNvSpPr txBox="1"/>
          <p:nvPr/>
        </p:nvSpPr>
        <p:spPr>
          <a:xfrm>
            <a:off x="7513625" y="5286146"/>
            <a:ext cx="1554480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Bootstrapping &amp; CI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4758f35638b9391efba97b927cbd1976.png" id="31" name="Google Shape;31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65822" y="5290718"/>
            <a:ext cx="171907" cy="171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f71b8e4fd025b9dc618bf5ab305be868.png" id="37" name="Google Shape;37;p4"/>
          <p:cNvPicPr preferRelativeResize="0"/>
          <p:nvPr/>
        </p:nvPicPr>
        <p:blipFill rotWithShape="1">
          <a:blip r:embed="rId3">
            <a:alphaModFix/>
          </a:blip>
          <a:srcRect b="0" l="-200" r="-200" t="0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d351e0a4361c90357b6760b5ab718b8b.png" id="38" name="Google Shape;38;p4"/>
          <p:cNvPicPr preferRelativeResize="0"/>
          <p:nvPr/>
        </p:nvPicPr>
        <p:blipFill rotWithShape="1">
          <a:blip r:embed="rId4">
            <a:alphaModFix/>
          </a:blip>
          <a:srcRect b="-401" l="0" r="0" t="-401"/>
          <a:stretch/>
        </p:blipFill>
        <p:spPr>
          <a:xfrm>
            <a:off x="0" y="705002"/>
            <a:ext cx="12191695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/>
          <p:nvPr/>
        </p:nvSpPr>
        <p:spPr>
          <a:xfrm>
            <a:off x="571500" y="1524305"/>
            <a:ext cx="5400446" cy="4686300"/>
          </a:xfrm>
          <a:prstGeom prst="roundRect">
            <a:avLst>
              <a:gd fmla="val 2849" name="adj"/>
            </a:avLst>
          </a:prstGeom>
          <a:solidFill>
            <a:srgbClr val="F0FDFA"/>
          </a:solidFill>
          <a:ln cap="flat" cmpd="sng" w="12700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6238951" y="1524305"/>
            <a:ext cx="5400446" cy="4686300"/>
          </a:xfrm>
          <a:prstGeom prst="roundRect">
            <a:avLst>
              <a:gd fmla="val 2849" name="adj"/>
            </a:avLst>
          </a:prstGeom>
          <a:solidFill>
            <a:srgbClr val="FFF7ED"/>
          </a:solidFill>
          <a:ln cap="flat" cmpd="sng" w="1270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571500" y="247802"/>
            <a:ext cx="342900" cy="342900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3bacb895bb3d575142f1a15af9db5bcf.png" id="42" name="Google Shape;4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454" y="333756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"/>
          <p:cNvSpPr txBox="1"/>
          <p:nvPr/>
        </p:nvSpPr>
        <p:spPr>
          <a:xfrm>
            <a:off x="1067105" y="247802"/>
            <a:ext cx="7620610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Çka do të mësojmë sot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 txBox="1"/>
          <p:nvPr/>
        </p:nvSpPr>
        <p:spPr>
          <a:xfrm>
            <a:off x="8572500" y="323698"/>
            <a:ext cx="30486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Machine Learning | Modeli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571500" y="1009498"/>
            <a:ext cx="1104961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"A do të punojë modeli im mbi të dhëna që s'i ka parë ende?" — pyetja qendrore.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857707" y="1772107"/>
            <a:ext cx="533095" cy="533095"/>
          </a:xfrm>
          <a:prstGeom prst="roundRect">
            <a:avLst>
              <a:gd fmla="val 25043" name="adj"/>
            </a:avLst>
          </a:prstGeom>
          <a:solidFill>
            <a:srgbClr val="0F766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6ee7eab25d443309e1922ad7342fb300.png" id="47" name="Google Shape;4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1151" y="1895551"/>
            <a:ext cx="286207" cy="286207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"/>
          <p:cNvSpPr txBox="1"/>
          <p:nvPr/>
        </p:nvSpPr>
        <p:spPr>
          <a:xfrm>
            <a:off x="1524305" y="1809598"/>
            <a:ext cx="419161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Pjesa 1 · Cross-Validation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 txBox="1"/>
          <p:nvPr/>
        </p:nvSpPr>
        <p:spPr>
          <a:xfrm>
            <a:off x="1524305" y="2076602"/>
            <a:ext cx="4191610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065F46"/>
                </a:solidFill>
                <a:latin typeface="Inter"/>
                <a:ea typeface="Inter"/>
                <a:cs typeface="Inter"/>
                <a:sym typeface="Inter"/>
              </a:rPr>
              <a:t>Testimi disa herë për vlerësim të besueshëm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 txBox="1"/>
          <p:nvPr/>
        </p:nvSpPr>
        <p:spPr>
          <a:xfrm>
            <a:off x="857707" y="2572207"/>
            <a:ext cx="4905756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✓ Pse train/test i vetëm mund të gënjejë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 txBox="1"/>
          <p:nvPr/>
        </p:nvSpPr>
        <p:spPr>
          <a:xfrm>
            <a:off x="857707" y="2894990"/>
            <a:ext cx="4905756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✓ </a:t>
            </a:r>
            <a:r>
              <a:rPr b="1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K-Fold CV</a:t>
            </a: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— si funksionon step-by-step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857707" y="3217774"/>
            <a:ext cx="4905756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✓ Cilin K të zgjedhësh (3, 5, 10?)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 txBox="1"/>
          <p:nvPr/>
        </p:nvSpPr>
        <p:spPr>
          <a:xfrm>
            <a:off x="857707" y="3540557"/>
            <a:ext cx="4905756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✓ </a:t>
            </a:r>
            <a:r>
              <a:rPr b="1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Stratified K-Fold</a:t>
            </a: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për klasa të pabalancuara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857707" y="3863340"/>
            <a:ext cx="4905756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✓ </a:t>
            </a:r>
            <a:r>
              <a:rPr b="1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Time Series CV</a:t>
            </a: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— kur data ka rend kronologjik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857707" y="4186123"/>
            <a:ext cx="5075834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✓ </a:t>
            </a:r>
            <a:r>
              <a:rPr b="1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Group K-Fold</a:t>
            </a: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— kur mostrat vijnë nga i njëjti person/pajisje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857707" y="4509821"/>
            <a:ext cx="4905756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✓ </a:t>
            </a:r>
            <a:r>
              <a:rPr b="0" i="0" lang="en-US" sz="1000" u="none" cap="none" strike="noStrike">
                <a:solidFill>
                  <a:srgbClr val="11182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 cross_val_score </a:t>
            </a: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në sklearn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6524244" y="1772107"/>
            <a:ext cx="533095" cy="533095"/>
          </a:xfrm>
          <a:prstGeom prst="roundRect">
            <a:avLst>
              <a:gd fmla="val 25043" name="adj"/>
            </a:avLst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f12ac9bf0065eb7e7c160092d4e8be8e.png" id="58" name="Google Shape;58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48602" y="1895551"/>
            <a:ext cx="286207" cy="286207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4"/>
          <p:cNvSpPr txBox="1"/>
          <p:nvPr/>
        </p:nvSpPr>
        <p:spPr>
          <a:xfrm>
            <a:off x="7191756" y="1809598"/>
            <a:ext cx="419161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rPr>
              <a:t>Pjesa 2 · Bootstrapping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7191756" y="2076602"/>
            <a:ext cx="4191610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4A1A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7C4A1A"/>
                </a:solidFill>
                <a:latin typeface="Inter"/>
                <a:ea typeface="Inter"/>
                <a:cs typeface="Inter"/>
                <a:sym typeface="Inter"/>
              </a:rPr>
              <a:t>Sa i sigurt është numri im?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6524244" y="2572207"/>
            <a:ext cx="4905756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✓ Çka është </a:t>
            </a:r>
            <a:r>
              <a:rPr b="1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sampling me zëvendësim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6524244" y="2894990"/>
            <a:ext cx="4905756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✓ Krijim i shumë "botëve" nga një dataset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6524244" y="3217774"/>
            <a:ext cx="4905756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✓ </a:t>
            </a:r>
            <a:r>
              <a:rPr b="1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Confidence Interval</a:t>
            </a: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— nga "Acc = 90%" në "87% – 93%"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6524244" y="3540557"/>
            <a:ext cx="4905756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✓ Kur ta përdorësh vs kur jo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6524244" y="3863340"/>
            <a:ext cx="4905756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✓ CV vs Bootstrapping — dallime kryesore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6524244" y="4186123"/>
            <a:ext cx="4905756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✓ Workflow përfundimtar për projektet ML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 txBox="1"/>
          <p:nvPr/>
        </p:nvSpPr>
        <p:spPr>
          <a:xfrm>
            <a:off x="6524244" y="4509821"/>
            <a:ext cx="4905756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✓ Praktikë me 3 modele: Logistic · Tree · Forest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 txBox="1"/>
          <p:nvPr/>
        </p:nvSpPr>
        <p:spPr>
          <a:xfrm>
            <a:off x="10953598" y="6515100"/>
            <a:ext cx="9528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Faqja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f71b8e4fd025b9dc618bf5ab305be868.png" id="74" name="Google Shape;74;p5"/>
          <p:cNvPicPr preferRelativeResize="0"/>
          <p:nvPr/>
        </p:nvPicPr>
        <p:blipFill rotWithShape="1">
          <a:blip r:embed="rId3">
            <a:alphaModFix/>
          </a:blip>
          <a:srcRect b="0" l="-200" r="-200" t="0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d351e0a4361c90357b6760b5ab718b8b.png" id="75" name="Google Shape;75;p5"/>
          <p:cNvPicPr preferRelativeResize="0"/>
          <p:nvPr/>
        </p:nvPicPr>
        <p:blipFill rotWithShape="1">
          <a:blip r:embed="rId4">
            <a:alphaModFix/>
          </a:blip>
          <a:srcRect b="-401" l="0" r="0" t="-401"/>
          <a:stretch/>
        </p:blipFill>
        <p:spPr>
          <a:xfrm>
            <a:off x="0" y="705002"/>
            <a:ext cx="12191695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5"/>
          <p:cNvSpPr/>
          <p:nvPr/>
        </p:nvSpPr>
        <p:spPr>
          <a:xfrm>
            <a:off x="571500" y="1524305"/>
            <a:ext cx="11067898" cy="2210105"/>
          </a:xfrm>
          <a:prstGeom prst="roundRect">
            <a:avLst>
              <a:gd fmla="val 6041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571500" y="3905402"/>
            <a:ext cx="11067898" cy="2305202"/>
          </a:xfrm>
          <a:prstGeom prst="roundRect">
            <a:avLst>
              <a:gd fmla="val 5791" name="adj"/>
            </a:avLst>
          </a:prstGeom>
          <a:solidFill>
            <a:srgbClr val="FEF2F2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571500" y="247802"/>
            <a:ext cx="342900" cy="342900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d3b4ef2cc9ddbc88ac15c165bd4f3cdc.png" id="79" name="Google Shape;7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454" y="333756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5"/>
          <p:cNvSpPr txBox="1"/>
          <p:nvPr/>
        </p:nvSpPr>
        <p:spPr>
          <a:xfrm>
            <a:off x="1067105" y="247802"/>
            <a:ext cx="7620610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Problemi — një ndarje e vetme mund të gënjejë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8572500" y="323698"/>
            <a:ext cx="30486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Machine Learning | Modeli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 txBox="1"/>
          <p:nvPr/>
        </p:nvSpPr>
        <p:spPr>
          <a:xfrm>
            <a:off x="571500" y="1009498"/>
            <a:ext cx="1104961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Ke bërë </a:t>
            </a:r>
            <a:r>
              <a:rPr b="1" i="0" lang="en-US" sz="1200" u="none" cap="none" strike="noStrike">
                <a:solidFill>
                  <a:srgbClr val="0F766E"/>
                </a:solidFill>
                <a:highlight>
                  <a:srgbClr val="F0FDFA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 train_test_split() </a:t>
            </a: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. Modeli ka Accuracy = 0.85. A mund t'i besojmë?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761695" y="1714500"/>
            <a:ext cx="10668305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Analogji reale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37006ca0bf1e1f46877de14fb844bce9.png" id="84" name="Google Shape;84;p5"/>
          <p:cNvPicPr preferRelativeResize="0"/>
          <p:nvPr/>
        </p:nvPicPr>
        <p:blipFill rotWithShape="1">
          <a:blip r:embed="rId6">
            <a:alphaModFix/>
          </a:blip>
          <a:srcRect b="-3" l="0" r="0" t="-3"/>
          <a:stretch/>
        </p:blipFill>
        <p:spPr>
          <a:xfrm>
            <a:off x="761695" y="2000707"/>
            <a:ext cx="10668305" cy="161940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5"/>
          <p:cNvSpPr txBox="1"/>
          <p:nvPr/>
        </p:nvSpPr>
        <p:spPr>
          <a:xfrm>
            <a:off x="761695" y="4076395"/>
            <a:ext cx="10668305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⚠️ Në ML është njësoj — nëse ndryshojmë vetëm </a:t>
            </a:r>
            <a:r>
              <a:rPr b="1" i="0" lang="en-US" sz="1100" u="none" cap="none" strike="noStrike">
                <a:solidFill>
                  <a:srgbClr val="EF444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random_state</a:t>
            </a:r>
            <a:r>
              <a:rPr b="1" i="0" lang="en-US" sz="11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3eaed04cfde9c9cdf86afc4c76cf6095.png" id="86" name="Google Shape;86;p5"/>
          <p:cNvPicPr preferRelativeResize="0"/>
          <p:nvPr/>
        </p:nvPicPr>
        <p:blipFill rotWithShape="1">
          <a:blip r:embed="rId7">
            <a:alphaModFix/>
          </a:blip>
          <a:srcRect b="0" l="-1" r="-1" t="0"/>
          <a:stretch/>
        </p:blipFill>
        <p:spPr>
          <a:xfrm>
            <a:off x="761695" y="4381805"/>
            <a:ext cx="10668305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5"/>
          <p:cNvSpPr txBox="1"/>
          <p:nvPr/>
        </p:nvSpPr>
        <p:spPr>
          <a:xfrm>
            <a:off x="10953598" y="6515100"/>
            <a:ext cx="9528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Faqja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f71b8e4fd025b9dc618bf5ab305be868.png" id="93" name="Google Shape;93;p6"/>
          <p:cNvPicPr preferRelativeResize="0"/>
          <p:nvPr/>
        </p:nvPicPr>
        <p:blipFill rotWithShape="1">
          <a:blip r:embed="rId3">
            <a:alphaModFix/>
          </a:blip>
          <a:srcRect b="0" l="-200" r="-200" t="0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d351e0a4361c90357b6760b5ab718b8b.png" id="94" name="Google Shape;94;p6"/>
          <p:cNvPicPr preferRelativeResize="0"/>
          <p:nvPr/>
        </p:nvPicPr>
        <p:blipFill rotWithShape="1">
          <a:blip r:embed="rId4">
            <a:alphaModFix/>
          </a:blip>
          <a:srcRect b="-401" l="0" r="0" t="-401"/>
          <a:stretch/>
        </p:blipFill>
        <p:spPr>
          <a:xfrm>
            <a:off x="0" y="705002"/>
            <a:ext cx="12191695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6"/>
          <p:cNvSpPr/>
          <p:nvPr/>
        </p:nvSpPr>
        <p:spPr>
          <a:xfrm>
            <a:off x="571500" y="1524305"/>
            <a:ext cx="7067398" cy="4686300"/>
          </a:xfrm>
          <a:prstGeom prst="roundRect">
            <a:avLst>
              <a:gd fmla="val 2849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7810805" y="1524305"/>
            <a:ext cx="3829507" cy="2266798"/>
          </a:xfrm>
          <a:prstGeom prst="roundRect">
            <a:avLst>
              <a:gd fmla="val 5889" name="adj"/>
            </a:avLst>
          </a:prstGeom>
          <a:solidFill>
            <a:srgbClr val="F0FDFA"/>
          </a:solidFill>
          <a:ln cap="flat" cmpd="sng" w="12700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7810805" y="3905402"/>
            <a:ext cx="3810305" cy="2286000"/>
          </a:xfrm>
          <a:prstGeom prst="roundRect">
            <a:avLst>
              <a:gd fmla="val 5840" name="adj"/>
            </a:avLst>
          </a:prstGeom>
          <a:solidFill>
            <a:srgbClr val="0F766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571500" y="247802"/>
            <a:ext cx="342900" cy="342900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bc8f38744759922a59b2a800101c4239.png" id="99" name="Google Shape;9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454" y="333756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6"/>
          <p:cNvSpPr txBox="1"/>
          <p:nvPr/>
        </p:nvSpPr>
        <p:spPr>
          <a:xfrm>
            <a:off x="1067105" y="247802"/>
            <a:ext cx="7620610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Rasti "me fat" vs "pa fat" — një ilustrim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 txBox="1"/>
          <p:nvPr/>
        </p:nvSpPr>
        <p:spPr>
          <a:xfrm>
            <a:off x="8572500" y="323698"/>
            <a:ext cx="30486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Machine Learning | Modeli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571500" y="1009498"/>
            <a:ext cx="1104961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Trajnuam të njëjtin </a:t>
            </a:r>
            <a:r>
              <a:rPr b="1" lang="en-US" sz="1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Decision Tree </a:t>
            </a: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5 herë me 5 </a:t>
            </a:r>
            <a:r>
              <a:rPr b="1" i="0" lang="en-US" sz="1200" u="none" cap="none" strike="noStrike">
                <a:solidFill>
                  <a:srgbClr val="4B556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random_state</a:t>
            </a: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të ndryshme. Ja çfarë morëm: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 txBox="1"/>
          <p:nvPr/>
        </p:nvSpPr>
        <p:spPr>
          <a:xfrm>
            <a:off x="761695" y="1714500"/>
            <a:ext cx="6667805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5 ndarje të ndryshme — 5 rezultate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5a2488d1c14be9f0d1aed5f5181b37ed.png" id="104" name="Google Shape;104;p6"/>
          <p:cNvPicPr preferRelativeResize="0"/>
          <p:nvPr/>
        </p:nvPicPr>
        <p:blipFill rotWithShape="1">
          <a:blip r:embed="rId6">
            <a:alphaModFix/>
          </a:blip>
          <a:srcRect b="0" l="-2" r="-2" t="0"/>
          <a:stretch/>
        </p:blipFill>
        <p:spPr>
          <a:xfrm>
            <a:off x="761695" y="2095805"/>
            <a:ext cx="666780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6"/>
          <p:cNvSpPr txBox="1"/>
          <p:nvPr/>
        </p:nvSpPr>
        <p:spPr>
          <a:xfrm>
            <a:off x="8001000" y="1714500"/>
            <a:ext cx="34290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Përgjigja: mesatarja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 txBox="1"/>
          <p:nvPr/>
        </p:nvSpPr>
        <p:spPr>
          <a:xfrm>
            <a:off x="8001000" y="1971446"/>
            <a:ext cx="34290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Nëse trajnojmë disa herë me ndarje të ndryshme dhe </a:t>
            </a:r>
            <a:r>
              <a:rPr b="1" lang="en-US" sz="10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gjejme mesataren</a:t>
            </a: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, marrim një vlerësim shumë më të </a:t>
            </a:r>
            <a:r>
              <a:rPr b="1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qëndrueshëm</a:t>
            </a: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8001000" y="2745943"/>
            <a:ext cx="3429000" cy="523951"/>
          </a:xfrm>
          <a:prstGeom prst="roundRect">
            <a:avLst>
              <a:gd fmla="val 14485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 txBox="1"/>
          <p:nvPr/>
        </p:nvSpPr>
        <p:spPr>
          <a:xfrm>
            <a:off x="8115300" y="2841041"/>
            <a:ext cx="32004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JetBrains Mono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Accuracy = </a:t>
            </a:r>
            <a:r>
              <a:rPr b="1" i="0" lang="en-US" sz="900" u="none" cap="none" strike="noStrike">
                <a:solidFill>
                  <a:srgbClr val="0F766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0.82 ± 0.09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 txBox="1"/>
          <p:nvPr/>
        </p:nvSpPr>
        <p:spPr>
          <a:xfrm>
            <a:off x="8115300" y="3041294"/>
            <a:ext cx="3200400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Mesatare + luhatja standarde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 txBox="1"/>
          <p:nvPr/>
        </p:nvSpPr>
        <p:spPr>
          <a:xfrm>
            <a:off x="8001000" y="4095598"/>
            <a:ext cx="34290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5EEAD4"/>
                </a:solidFill>
                <a:latin typeface="Inter"/>
                <a:ea typeface="Inter"/>
                <a:cs typeface="Inter"/>
                <a:sym typeface="Inter"/>
              </a:rPr>
              <a:t>Ideja qendrore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 txBox="1"/>
          <p:nvPr/>
        </p:nvSpPr>
        <p:spPr>
          <a:xfrm>
            <a:off x="8001000" y="4352544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Në vend të </a:t>
            </a: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 provimi</a:t>
            </a:r>
            <a:r>
              <a:rPr b="0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, jepi studentit </a:t>
            </a: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 provime të ndryshme</a:t>
            </a:r>
            <a:r>
              <a:rPr b="0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mbi të njëjtën lëndë. Mesatarja e notave është shumë më e besueshme se çdo provim individual.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 txBox="1"/>
          <p:nvPr/>
        </p:nvSpPr>
        <p:spPr>
          <a:xfrm>
            <a:off x="8001000" y="5378501"/>
            <a:ext cx="3429000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900"/>
              <a:buFont typeface="Inter"/>
              <a:buNone/>
            </a:pPr>
            <a:r>
              <a:rPr b="0" i="1" lang="en-US" sz="900" u="none" cap="none" strike="noStrike">
                <a:solidFill>
                  <a:srgbClr val="D1FAE5"/>
                </a:solidFill>
                <a:latin typeface="Inter"/>
                <a:ea typeface="Inter"/>
                <a:cs typeface="Inter"/>
                <a:sym typeface="Inter"/>
              </a:rPr>
              <a:t>Kjo pikërisht është </a:t>
            </a:r>
            <a:r>
              <a:rPr b="1" i="1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Cross-Validation</a:t>
            </a:r>
            <a:r>
              <a:rPr b="0" i="1" lang="en-US" sz="900" u="none" cap="none" strike="noStrike">
                <a:solidFill>
                  <a:srgbClr val="D1FAE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 txBox="1"/>
          <p:nvPr/>
        </p:nvSpPr>
        <p:spPr>
          <a:xfrm>
            <a:off x="10953598" y="6515100"/>
            <a:ext cx="9528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Faqja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f71b8e4fd025b9dc618bf5ab305be868.png" id="119" name="Google Shape;119;p7"/>
          <p:cNvPicPr preferRelativeResize="0"/>
          <p:nvPr/>
        </p:nvPicPr>
        <p:blipFill rotWithShape="1">
          <a:blip r:embed="rId3">
            <a:alphaModFix/>
          </a:blip>
          <a:srcRect b="0" l="-200" r="-200" t="0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d351e0a4361c90357b6760b5ab718b8b.png" id="120" name="Google Shape;120;p7"/>
          <p:cNvPicPr preferRelativeResize="0"/>
          <p:nvPr/>
        </p:nvPicPr>
        <p:blipFill rotWithShape="1">
          <a:blip r:embed="rId4">
            <a:alphaModFix/>
          </a:blip>
          <a:srcRect b="-401" l="0" r="0" t="-401"/>
          <a:stretch/>
        </p:blipFill>
        <p:spPr>
          <a:xfrm>
            <a:off x="0" y="705002"/>
            <a:ext cx="12191695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7"/>
          <p:cNvSpPr/>
          <p:nvPr/>
        </p:nvSpPr>
        <p:spPr>
          <a:xfrm>
            <a:off x="571500" y="1524305"/>
            <a:ext cx="11067898" cy="3258007"/>
          </a:xfrm>
          <a:prstGeom prst="roundRect">
            <a:avLst>
              <a:gd fmla="val 4098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571500" y="4953305"/>
            <a:ext cx="3648456" cy="1257300"/>
          </a:xfrm>
          <a:prstGeom prst="roundRect">
            <a:avLst>
              <a:gd fmla="val 9091" name="adj"/>
            </a:avLst>
          </a:prstGeom>
          <a:solidFill>
            <a:srgbClr val="F0FDFA"/>
          </a:solidFill>
          <a:ln cap="flat" cmpd="sng" w="12700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571500" y="4953305"/>
            <a:ext cx="38405" cy="1257300"/>
          </a:xfrm>
          <a:prstGeom prst="roundRect">
            <a:avLst>
              <a:gd fmla="val 297617" name="adj"/>
            </a:avLst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4295851" y="4953305"/>
            <a:ext cx="3648456" cy="1257300"/>
          </a:xfrm>
          <a:prstGeom prst="roundRect">
            <a:avLst>
              <a:gd fmla="val 9091" name="adj"/>
            </a:avLst>
          </a:prstGeom>
          <a:solidFill>
            <a:srgbClr val="FFF7ED"/>
          </a:solidFill>
          <a:ln cap="flat" cmpd="sng" w="1270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4295851" y="4953305"/>
            <a:ext cx="38405" cy="1257300"/>
          </a:xfrm>
          <a:prstGeom prst="roundRect">
            <a:avLst>
              <a:gd fmla="val 297617" name="adj"/>
            </a:avLst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8020202" y="4953305"/>
            <a:ext cx="3648456" cy="1257300"/>
          </a:xfrm>
          <a:prstGeom prst="roundRect">
            <a:avLst>
              <a:gd fmla="val 9091" name="adj"/>
            </a:avLst>
          </a:prstGeom>
          <a:solidFill>
            <a:srgbClr val="F0FDFA"/>
          </a:solidFill>
          <a:ln cap="flat" cmpd="sng" w="12700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8020202" y="4953305"/>
            <a:ext cx="38405" cy="1257300"/>
          </a:xfrm>
          <a:prstGeom prst="roundRect">
            <a:avLst>
              <a:gd fmla="val 297617" name="adj"/>
            </a:avLst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571500" y="247802"/>
            <a:ext cx="342900" cy="342900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14fb0d6ab3bddae171e67350df90ad1b.png" id="129" name="Google Shape;12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454" y="333756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7"/>
          <p:cNvSpPr txBox="1"/>
          <p:nvPr/>
        </p:nvSpPr>
        <p:spPr>
          <a:xfrm>
            <a:off x="1067105" y="247802"/>
            <a:ext cx="7620610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Cross-Validation — ideja bazë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 txBox="1"/>
          <p:nvPr/>
        </p:nvSpPr>
        <p:spPr>
          <a:xfrm>
            <a:off x="8572500" y="323698"/>
            <a:ext cx="30486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Machine Learning | Modeli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 txBox="1"/>
          <p:nvPr/>
        </p:nvSpPr>
        <p:spPr>
          <a:xfrm>
            <a:off x="571500" y="1009498"/>
            <a:ext cx="1104961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Ideja: në vend të një ndarjeje 80/20, e ndajmë dataset-in në K pjesë të barabarta dhe testojmë K herë.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761695" y="1714500"/>
            <a:ext cx="10668305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Fjalor i ri: "fold" = pjesë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2c5bc8604035f1049ab8a96478ff4a38.png" id="134" name="Google Shape;134;p7"/>
          <p:cNvPicPr preferRelativeResize="0"/>
          <p:nvPr/>
        </p:nvPicPr>
        <p:blipFill rotWithShape="1">
          <a:blip r:embed="rId6">
            <a:alphaModFix/>
          </a:blip>
          <a:srcRect b="-7" l="0" r="0" t="-7"/>
          <a:stretch/>
        </p:blipFill>
        <p:spPr>
          <a:xfrm>
            <a:off x="761695" y="2095805"/>
            <a:ext cx="10668305" cy="2572207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7"/>
          <p:cNvSpPr txBox="1"/>
          <p:nvPr/>
        </p:nvSpPr>
        <p:spPr>
          <a:xfrm>
            <a:off x="761695" y="5124298"/>
            <a:ext cx="3238805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✓ Përdorim të gjitha të dhënat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 txBox="1"/>
          <p:nvPr/>
        </p:nvSpPr>
        <p:spPr>
          <a:xfrm>
            <a:off x="761695" y="5343754"/>
            <a:ext cx="3238805" cy="391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Çdo mostër përdoret 1× si test dhe (K−1)× si train — asnjë s'humbet.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 txBox="1"/>
          <p:nvPr/>
        </p:nvSpPr>
        <p:spPr>
          <a:xfrm>
            <a:off x="4486046" y="5124298"/>
            <a:ext cx="3238805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rPr>
              <a:t>✓ Vlerësim i qëndrueshëm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 txBox="1"/>
          <p:nvPr/>
        </p:nvSpPr>
        <p:spPr>
          <a:xfrm>
            <a:off x="4486046" y="5343754"/>
            <a:ext cx="3238805" cy="391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Mesatarja e K rezultateve është shumë më pak e ndikuar nga "fat i mirë ose i keq".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 txBox="1"/>
          <p:nvPr/>
        </p:nvSpPr>
        <p:spPr>
          <a:xfrm>
            <a:off x="8210398" y="5124298"/>
            <a:ext cx="3238805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✓ Sheh variancën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 txBox="1"/>
          <p:nvPr/>
        </p:nvSpPr>
        <p:spPr>
          <a:xfrm>
            <a:off x="8210398" y="5343754"/>
            <a:ext cx="3238805" cy="391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Sheh sa </a:t>
            </a:r>
            <a:r>
              <a:rPr b="1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ndryshojnë</a:t>
            </a: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K rezultatet — nëse variojnë shumë, modeli është i paqëndrueshëm.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10953598" y="6515100"/>
            <a:ext cx="9528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Faqja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f71b8e4fd025b9dc618bf5ab305be868.png" id="147" name="Google Shape;147;p8"/>
          <p:cNvPicPr preferRelativeResize="0"/>
          <p:nvPr/>
        </p:nvPicPr>
        <p:blipFill rotWithShape="1">
          <a:blip r:embed="rId3">
            <a:alphaModFix/>
          </a:blip>
          <a:srcRect b="0" l="-200" r="-200" t="0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d351e0a4361c90357b6760b5ab718b8b.png" id="148" name="Google Shape;148;p8"/>
          <p:cNvPicPr preferRelativeResize="0"/>
          <p:nvPr/>
        </p:nvPicPr>
        <p:blipFill rotWithShape="1">
          <a:blip r:embed="rId4">
            <a:alphaModFix/>
          </a:blip>
          <a:srcRect b="-401" l="0" r="0" t="-401"/>
          <a:stretch/>
        </p:blipFill>
        <p:spPr>
          <a:xfrm>
            <a:off x="0" y="705002"/>
            <a:ext cx="12191695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8"/>
          <p:cNvSpPr/>
          <p:nvPr/>
        </p:nvSpPr>
        <p:spPr>
          <a:xfrm>
            <a:off x="571500" y="1524305"/>
            <a:ext cx="11067898" cy="3829507"/>
          </a:xfrm>
          <a:prstGeom prst="roundRect">
            <a:avLst>
              <a:gd fmla="val 3486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571500" y="5524805"/>
            <a:ext cx="11048695" cy="666598"/>
          </a:xfrm>
          <a:prstGeom prst="roundRect">
            <a:avLst>
              <a:gd fmla="val 17147" name="adj"/>
            </a:avLst>
          </a:prstGeom>
          <a:solidFill>
            <a:srgbClr val="0F766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571500" y="247802"/>
            <a:ext cx="342900" cy="342900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bbf811a0826cecc7f5ab8c6037f48103.png" id="152" name="Google Shape;15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454" y="333756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8"/>
          <p:cNvSpPr txBox="1"/>
          <p:nvPr/>
        </p:nvSpPr>
        <p:spPr>
          <a:xfrm>
            <a:off x="1067105" y="247802"/>
            <a:ext cx="7620610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K-Fold CV — 5 rrotullime, hap pas hapi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 txBox="1"/>
          <p:nvPr/>
        </p:nvSpPr>
        <p:spPr>
          <a:xfrm>
            <a:off x="8572500" y="323698"/>
            <a:ext cx="30486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Machine Learning | Modeli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 txBox="1"/>
          <p:nvPr/>
        </p:nvSpPr>
        <p:spPr>
          <a:xfrm>
            <a:off x="571500" y="1009498"/>
            <a:ext cx="1104961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■ Train</a:t>
            </a: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· </a:t>
            </a:r>
            <a:r>
              <a:rPr b="1" i="0" lang="en-US" sz="1200" u="none" cap="none" strike="noStrike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rPr>
              <a:t>■ Test (fold aktual)</a:t>
            </a: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— çdo rresht = një trajnim/test i plotë.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433fec0a90520951a17503cd543c446a.png" id="156" name="Google Shape;156;p8"/>
          <p:cNvPicPr preferRelativeResize="0"/>
          <p:nvPr/>
        </p:nvPicPr>
        <p:blipFill rotWithShape="1">
          <a:blip r:embed="rId6">
            <a:alphaModFix/>
          </a:blip>
          <a:srcRect b="0" l="-4" r="-4" t="0"/>
          <a:stretch/>
        </p:blipFill>
        <p:spPr>
          <a:xfrm>
            <a:off x="761695" y="1714500"/>
            <a:ext cx="10668305" cy="352409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8"/>
          <p:cNvSpPr txBox="1"/>
          <p:nvPr/>
        </p:nvSpPr>
        <p:spPr>
          <a:xfrm>
            <a:off x="857707" y="5695798"/>
            <a:ext cx="10668305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Përfundimi:</a:t>
            </a:r>
            <a:r>
              <a:rPr b="0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në vend të "Accuracy = 0.82" tani themi </a:t>
            </a:r>
            <a:r>
              <a:rPr b="1" i="0" lang="en-US" sz="1000" u="none" cap="none" strike="noStrike">
                <a:solidFill>
                  <a:srgbClr val="5EEAD4"/>
                </a:solidFill>
                <a:latin typeface="Inter"/>
                <a:ea typeface="Inter"/>
                <a:cs typeface="Inter"/>
                <a:sym typeface="Inter"/>
              </a:rPr>
              <a:t>"Accuracy = 0.82 ± 0.05"</a:t>
            </a:r>
            <a:r>
              <a:rPr b="0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— mesatarja + luhatja. Kjo është shumë më e besueshme se çdo ndarje individuale.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 txBox="1"/>
          <p:nvPr/>
        </p:nvSpPr>
        <p:spPr>
          <a:xfrm>
            <a:off x="10953598" y="6515100"/>
            <a:ext cx="9528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Faqja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f71b8e4fd025b9dc618bf5ab305be868.png" id="164" name="Google Shape;164;p9"/>
          <p:cNvPicPr preferRelativeResize="0"/>
          <p:nvPr/>
        </p:nvPicPr>
        <p:blipFill rotWithShape="1">
          <a:blip r:embed="rId3">
            <a:alphaModFix/>
          </a:blip>
          <a:srcRect b="0" l="-200" r="-200" t="0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d351e0a4361c90357b6760b5ab718b8b.png" id="165" name="Google Shape;165;p9"/>
          <p:cNvPicPr preferRelativeResize="0"/>
          <p:nvPr/>
        </p:nvPicPr>
        <p:blipFill rotWithShape="1">
          <a:blip r:embed="rId4">
            <a:alphaModFix/>
          </a:blip>
          <a:srcRect b="-401" l="0" r="0" t="-401"/>
          <a:stretch/>
        </p:blipFill>
        <p:spPr>
          <a:xfrm>
            <a:off x="0" y="705002"/>
            <a:ext cx="12191695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9"/>
          <p:cNvSpPr/>
          <p:nvPr/>
        </p:nvSpPr>
        <p:spPr>
          <a:xfrm>
            <a:off x="571500" y="1524305"/>
            <a:ext cx="3638398" cy="3962095"/>
          </a:xfrm>
          <a:prstGeom prst="roundRect">
            <a:avLst>
              <a:gd fmla="val 3141" name="adj"/>
            </a:avLst>
          </a:prstGeom>
          <a:solidFill>
            <a:srgbClr val="FEF2F2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571500" y="1524305"/>
            <a:ext cx="3638398" cy="47549"/>
          </a:xfrm>
          <a:prstGeom prst="roundRect">
            <a:avLst>
              <a:gd fmla="val 240384" name="adj"/>
            </a:avLst>
          </a:prstGeom>
          <a:solidFill>
            <a:srgbClr val="EF4444"/>
          </a:solidFill>
          <a:ln cap="flat" cmpd="sng" w="12700">
            <a:solidFill>
              <a:srgbClr val="EF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4286707" y="1524305"/>
            <a:ext cx="3638398" cy="3962095"/>
          </a:xfrm>
          <a:prstGeom prst="roundRect">
            <a:avLst>
              <a:gd fmla="val 3141" name="adj"/>
            </a:avLst>
          </a:prstGeom>
          <a:solidFill>
            <a:srgbClr val="F0FDFA"/>
          </a:solidFill>
          <a:ln cap="flat" cmpd="sng" w="12700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4286707" y="1524305"/>
            <a:ext cx="3638398" cy="47549"/>
          </a:xfrm>
          <a:prstGeom prst="roundRect">
            <a:avLst>
              <a:gd fmla="val 240384" name="adj"/>
            </a:avLst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8001000" y="1524305"/>
            <a:ext cx="3638398" cy="3962095"/>
          </a:xfrm>
          <a:prstGeom prst="roundRect">
            <a:avLst>
              <a:gd fmla="val 3141" name="adj"/>
            </a:avLst>
          </a:prstGeom>
          <a:solidFill>
            <a:srgbClr val="FFF7ED"/>
          </a:solidFill>
          <a:ln cap="flat" cmpd="sng" w="1270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8001000" y="1524305"/>
            <a:ext cx="3638398" cy="47549"/>
          </a:xfrm>
          <a:prstGeom prst="roundRect">
            <a:avLst>
              <a:gd fmla="val 240384" name="adj"/>
            </a:avLst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571500" y="5619902"/>
            <a:ext cx="11048695" cy="571500"/>
          </a:xfrm>
          <a:prstGeom prst="roundRect">
            <a:avLst>
              <a:gd fmla="val 20000" name="adj"/>
            </a:avLst>
          </a:prstGeom>
          <a:solidFill>
            <a:srgbClr val="111827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571500" y="247802"/>
            <a:ext cx="342900" cy="342900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e5b5b8e7aef6c8bcecbc44a4c4a967e2.png" id="174" name="Google Shape;17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454" y="333756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9"/>
          <p:cNvSpPr txBox="1"/>
          <p:nvPr/>
        </p:nvSpPr>
        <p:spPr>
          <a:xfrm>
            <a:off x="1067105" y="247802"/>
            <a:ext cx="7620610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Cilin K duhet të zgjedh?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 txBox="1"/>
          <p:nvPr/>
        </p:nvSpPr>
        <p:spPr>
          <a:xfrm>
            <a:off x="8572500" y="323698"/>
            <a:ext cx="30486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Machine Learning | Modeli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 txBox="1"/>
          <p:nvPr/>
        </p:nvSpPr>
        <p:spPr>
          <a:xfrm>
            <a:off x="571500" y="1009498"/>
            <a:ext cx="1104961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K = 5 ose K = 10 janë standardet e artë. Ja pse.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 txBox="1"/>
          <p:nvPr/>
        </p:nvSpPr>
        <p:spPr>
          <a:xfrm>
            <a:off x="761695" y="1714500"/>
            <a:ext cx="323880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700"/>
              <a:buFont typeface="JetBrains Mono"/>
              <a:buNone/>
            </a:pPr>
            <a:r>
              <a:rPr b="1" i="0" lang="en-US" sz="2700" u="none" cap="none" strike="noStrike">
                <a:solidFill>
                  <a:srgbClr val="EF444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 = 2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 txBox="1"/>
          <p:nvPr/>
        </p:nvSpPr>
        <p:spPr>
          <a:xfrm>
            <a:off x="761695" y="2210105"/>
            <a:ext cx="3238805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Shumë pak folds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761695" y="2476195"/>
            <a:ext cx="3238805" cy="562356"/>
          </a:xfrm>
          <a:prstGeom prst="roundRect">
            <a:avLst>
              <a:gd fmla="val 13496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 txBox="1"/>
          <p:nvPr/>
        </p:nvSpPr>
        <p:spPr>
          <a:xfrm>
            <a:off x="875995" y="2572207"/>
            <a:ext cx="30102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✗ Problem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 txBox="1"/>
          <p:nvPr/>
        </p:nvSpPr>
        <p:spPr>
          <a:xfrm>
            <a:off x="875995" y="2752344"/>
            <a:ext cx="3309214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Çdo trajnim përdor vetëm 50% të të dhënave.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761695" y="3129077"/>
            <a:ext cx="3238805" cy="562356"/>
          </a:xfrm>
          <a:prstGeom prst="roundRect">
            <a:avLst>
              <a:gd fmla="val 13496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 txBox="1"/>
          <p:nvPr/>
        </p:nvSpPr>
        <p:spPr>
          <a:xfrm>
            <a:off x="875995" y="3224174"/>
            <a:ext cx="30102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✗ Problem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 txBox="1"/>
          <p:nvPr/>
        </p:nvSpPr>
        <p:spPr>
          <a:xfrm>
            <a:off x="875995" y="3405226"/>
            <a:ext cx="3576218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Mesatarja e 2 scores është ende jo e besueshme.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761695" y="3781044"/>
            <a:ext cx="3238805" cy="562356"/>
          </a:xfrm>
          <a:prstGeom prst="roundRect">
            <a:avLst>
              <a:gd fmla="val 13496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 txBox="1"/>
          <p:nvPr/>
        </p:nvSpPr>
        <p:spPr>
          <a:xfrm>
            <a:off x="875995" y="3877056"/>
            <a:ext cx="30102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✓ Pro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 txBox="1"/>
          <p:nvPr/>
        </p:nvSpPr>
        <p:spPr>
          <a:xfrm>
            <a:off x="875995" y="4058107"/>
            <a:ext cx="3010205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Shumë e shpejtë.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 txBox="1"/>
          <p:nvPr/>
        </p:nvSpPr>
        <p:spPr>
          <a:xfrm>
            <a:off x="4476902" y="1714500"/>
            <a:ext cx="323880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2700"/>
              <a:buFont typeface="JetBrains Mono"/>
              <a:buNone/>
            </a:pPr>
            <a:r>
              <a:rPr b="1" i="0" lang="en-US" sz="2700" u="none" cap="none" strike="noStrike">
                <a:solidFill>
                  <a:srgbClr val="0F766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 = 5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 txBox="1"/>
          <p:nvPr/>
        </p:nvSpPr>
        <p:spPr>
          <a:xfrm>
            <a:off x="4476902" y="2210105"/>
            <a:ext cx="3238805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065F46"/>
                </a:solidFill>
                <a:latin typeface="Inter"/>
                <a:ea typeface="Inter"/>
                <a:cs typeface="Inter"/>
                <a:sym typeface="Inter"/>
              </a:rPr>
              <a:t>Standardi më i përdorur 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4476902" y="2476195"/>
            <a:ext cx="3238805" cy="562356"/>
          </a:xfrm>
          <a:prstGeom prst="roundRect">
            <a:avLst>
              <a:gd fmla="val 13496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 txBox="1"/>
          <p:nvPr/>
        </p:nvSpPr>
        <p:spPr>
          <a:xfrm>
            <a:off x="4591202" y="2572207"/>
            <a:ext cx="30102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✓ Balancë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 txBox="1"/>
          <p:nvPr/>
        </p:nvSpPr>
        <p:spPr>
          <a:xfrm>
            <a:off x="4591202" y="2752344"/>
            <a:ext cx="3010205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80% trajnim, 20% test në çdo iteracion.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4476902" y="3129077"/>
            <a:ext cx="3238805" cy="562356"/>
          </a:xfrm>
          <a:prstGeom prst="roundRect">
            <a:avLst>
              <a:gd fmla="val 13496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 txBox="1"/>
          <p:nvPr/>
        </p:nvSpPr>
        <p:spPr>
          <a:xfrm>
            <a:off x="4591202" y="3224174"/>
            <a:ext cx="30102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✓ Kohë e arsyeshme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 txBox="1"/>
          <p:nvPr/>
        </p:nvSpPr>
        <p:spPr>
          <a:xfrm>
            <a:off x="4591202" y="3405226"/>
            <a:ext cx="3010205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5 trajnime — mund të pritet.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4476902" y="3781044"/>
            <a:ext cx="3238805" cy="562356"/>
          </a:xfrm>
          <a:prstGeom prst="roundRect">
            <a:avLst>
              <a:gd fmla="val 13496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 txBox="1"/>
          <p:nvPr/>
        </p:nvSpPr>
        <p:spPr>
          <a:xfrm>
            <a:off x="4591202" y="3877056"/>
            <a:ext cx="30102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✓ Statistikisht i mirë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 txBox="1"/>
          <p:nvPr/>
        </p:nvSpPr>
        <p:spPr>
          <a:xfrm>
            <a:off x="4591202" y="4058107"/>
            <a:ext cx="3235147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Mesatarja e 5 numrave ka luhatje të vogël.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 txBox="1"/>
          <p:nvPr/>
        </p:nvSpPr>
        <p:spPr>
          <a:xfrm>
            <a:off x="8191195" y="1714500"/>
            <a:ext cx="323880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2700"/>
              <a:buFont typeface="JetBrains Mono"/>
              <a:buNone/>
            </a:pPr>
            <a:r>
              <a:rPr b="1" i="0" lang="en-US" sz="2700" u="none" cap="none" strike="noStrike">
                <a:solidFill>
                  <a:srgbClr val="F9731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 = 10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 txBox="1"/>
          <p:nvPr/>
        </p:nvSpPr>
        <p:spPr>
          <a:xfrm>
            <a:off x="8191195" y="2210105"/>
            <a:ext cx="3238805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4A1A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7C4A1A"/>
                </a:solidFill>
                <a:latin typeface="Inter"/>
                <a:ea typeface="Inter"/>
                <a:cs typeface="Inter"/>
                <a:sym typeface="Inter"/>
              </a:rPr>
              <a:t>Për dataset të mesëm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8191195" y="2476195"/>
            <a:ext cx="3238805" cy="562356"/>
          </a:xfrm>
          <a:prstGeom prst="roundRect">
            <a:avLst>
              <a:gd fmla="val 13496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 txBox="1"/>
          <p:nvPr/>
        </p:nvSpPr>
        <p:spPr>
          <a:xfrm>
            <a:off x="8305495" y="2572207"/>
            <a:ext cx="30102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✓ Më preciz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 txBox="1"/>
          <p:nvPr/>
        </p:nvSpPr>
        <p:spPr>
          <a:xfrm>
            <a:off x="8305495" y="2752344"/>
            <a:ext cx="3576218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90% trajnim çdo iteracion → modeli më i </a:t>
            </a:r>
            <a:r>
              <a:rPr lang="en-US" sz="9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sigurt</a:t>
            </a:r>
            <a:r>
              <a:rPr b="0" i="0" lang="en-US" sz="9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8191195" y="3129077"/>
            <a:ext cx="3238805" cy="562356"/>
          </a:xfrm>
          <a:prstGeom prst="roundRect">
            <a:avLst>
              <a:gd fmla="val 13496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 txBox="1"/>
          <p:nvPr/>
        </p:nvSpPr>
        <p:spPr>
          <a:xfrm>
            <a:off x="8305495" y="3224174"/>
            <a:ext cx="30102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rPr>
              <a:t>~ Kompromis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 txBox="1"/>
          <p:nvPr/>
        </p:nvSpPr>
        <p:spPr>
          <a:xfrm>
            <a:off x="8305495" y="3405226"/>
            <a:ext cx="3010205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Kohë 2× më e madhe se K=5.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8191195" y="3781044"/>
            <a:ext cx="3238805" cy="562356"/>
          </a:xfrm>
          <a:prstGeom prst="roundRect">
            <a:avLst>
              <a:gd fmla="val 13496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"/>
          <p:cNvSpPr txBox="1"/>
          <p:nvPr/>
        </p:nvSpPr>
        <p:spPr>
          <a:xfrm>
            <a:off x="8305495" y="3877056"/>
            <a:ext cx="30102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rPr>
              <a:t>~ Kur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 txBox="1"/>
          <p:nvPr/>
        </p:nvSpPr>
        <p:spPr>
          <a:xfrm>
            <a:off x="8305495" y="4058107"/>
            <a:ext cx="3576218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Kur dataset-i është relativisht i vogël (&lt; 10k).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 txBox="1"/>
          <p:nvPr/>
        </p:nvSpPr>
        <p:spPr>
          <a:xfrm>
            <a:off x="857707" y="5753405"/>
            <a:ext cx="11354105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5EEAD4"/>
                </a:solidFill>
                <a:latin typeface="Inter"/>
                <a:ea typeface="Inter"/>
                <a:cs typeface="Inter"/>
                <a:sym typeface="Inter"/>
              </a:rPr>
              <a:t>Rregulli praktik:</a:t>
            </a:r>
            <a:r>
              <a:rPr b="0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fillo me </a:t>
            </a: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 = 5</a:t>
            </a:r>
            <a:r>
              <a:rPr b="0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 Nëse dataset-i është mjaftueshëm i madh dhe koha lejon, provo K = 10. Në praktikë, ndryshimi nga 5 → 10 është zakonisht i vogël.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 txBox="1"/>
          <p:nvPr/>
        </p:nvSpPr>
        <p:spPr>
          <a:xfrm>
            <a:off x="10953598" y="6515100"/>
            <a:ext cx="9528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Faqja </a:t>
            </a:r>
            <a:r>
              <a:rPr lang="en-US" sz="9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f71b8e4fd025b9dc618bf5ab305be868.png" id="218" name="Google Shape;218;p10"/>
          <p:cNvPicPr preferRelativeResize="0"/>
          <p:nvPr/>
        </p:nvPicPr>
        <p:blipFill rotWithShape="1">
          <a:blip r:embed="rId3">
            <a:alphaModFix/>
          </a:blip>
          <a:srcRect b="0" l="-200" r="-200" t="0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d351e0a4361c90357b6760b5ab718b8b.png" id="219" name="Google Shape;219;p10"/>
          <p:cNvPicPr preferRelativeResize="0"/>
          <p:nvPr/>
        </p:nvPicPr>
        <p:blipFill rotWithShape="1">
          <a:blip r:embed="rId4">
            <a:alphaModFix/>
          </a:blip>
          <a:srcRect b="-401" l="0" r="0" t="-401"/>
          <a:stretch/>
        </p:blipFill>
        <p:spPr>
          <a:xfrm>
            <a:off x="0" y="705002"/>
            <a:ext cx="12191695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0"/>
          <p:cNvSpPr/>
          <p:nvPr/>
        </p:nvSpPr>
        <p:spPr>
          <a:xfrm>
            <a:off x="571500" y="1524305"/>
            <a:ext cx="5495544" cy="4686300"/>
          </a:xfrm>
          <a:prstGeom prst="roundRect">
            <a:avLst>
              <a:gd fmla="val 2849" name="adj"/>
            </a:avLst>
          </a:prstGeom>
          <a:solidFill>
            <a:srgbClr val="FEF2F2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6143854" y="1524305"/>
            <a:ext cx="5495544" cy="4686300"/>
          </a:xfrm>
          <a:prstGeom prst="roundRect">
            <a:avLst>
              <a:gd fmla="val 2849" name="adj"/>
            </a:avLst>
          </a:prstGeom>
          <a:solidFill>
            <a:srgbClr val="F0FDFA"/>
          </a:solidFill>
          <a:ln cap="flat" cmpd="sng" w="12700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571500" y="247802"/>
            <a:ext cx="342900" cy="342900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9124965f7c9cf5dc59d2519bc9789e55.png" id="223" name="Google Shape;22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454" y="333756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0"/>
          <p:cNvSpPr txBox="1"/>
          <p:nvPr/>
        </p:nvSpPr>
        <p:spPr>
          <a:xfrm>
            <a:off x="1067105" y="247802"/>
            <a:ext cx="7620610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Stratified K-Fold — për klasa të pabalancuara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 txBox="1"/>
          <p:nvPr/>
        </p:nvSpPr>
        <p:spPr>
          <a:xfrm>
            <a:off x="8572500" y="323698"/>
            <a:ext cx="30486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Machine Learning | Modeli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 txBox="1"/>
          <p:nvPr/>
        </p:nvSpPr>
        <p:spPr>
          <a:xfrm>
            <a:off x="571500" y="1009498"/>
            <a:ext cx="1104961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Nëse në dataset kemi 80% "qëndrojnë" dhe 20% "largohen", çdo fold duhet të ruajë të njëjtin raport.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 txBox="1"/>
          <p:nvPr/>
        </p:nvSpPr>
        <p:spPr>
          <a:xfrm>
            <a:off x="761695" y="1714500"/>
            <a:ext cx="5095951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✗ K-Fold i rregullt — problemi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 txBox="1"/>
          <p:nvPr/>
        </p:nvSpPr>
        <p:spPr>
          <a:xfrm>
            <a:off x="761695" y="2000707"/>
            <a:ext cx="5095951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Ndarja rastësore mund të lërë </a:t>
            </a:r>
            <a:r>
              <a:rPr b="1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një fold pa asnjë "largohet"</a:t>
            </a: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. Modeli s'ka çka të mësojë ose çka të testojë.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61e541aa08040c7d36fafadb22abb2eb.png" id="229" name="Google Shape;229;p10"/>
          <p:cNvPicPr preferRelativeResize="0"/>
          <p:nvPr/>
        </p:nvPicPr>
        <p:blipFill rotWithShape="1">
          <a:blip r:embed="rId6">
            <a:alphaModFix/>
          </a:blip>
          <a:srcRect b="-2" l="0" r="0" t="-2"/>
          <a:stretch/>
        </p:blipFill>
        <p:spPr>
          <a:xfrm>
            <a:off x="761695" y="2762402"/>
            <a:ext cx="5095951" cy="3333902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0"/>
          <p:cNvSpPr txBox="1"/>
          <p:nvPr/>
        </p:nvSpPr>
        <p:spPr>
          <a:xfrm>
            <a:off x="6334049" y="1714500"/>
            <a:ext cx="5095951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✓ Stratified K-Fold — zgjidhja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 txBox="1"/>
          <p:nvPr/>
        </p:nvSpPr>
        <p:spPr>
          <a:xfrm>
            <a:off x="6334049" y="2000707"/>
            <a:ext cx="5095951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Stratified</a:t>
            </a: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= "shtresuar". Ruan të njëjtin raport klasash në çdo fold — 80/20 pastaj 80/20 pastaj 80/20...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05eb84e0e2cadca6614126a065e513eb.png" id="232" name="Google Shape;232;p10"/>
          <p:cNvPicPr preferRelativeResize="0"/>
          <p:nvPr/>
        </p:nvPicPr>
        <p:blipFill rotWithShape="1">
          <a:blip r:embed="rId7">
            <a:alphaModFix/>
          </a:blip>
          <a:srcRect b="-7" l="0" r="0" t="-7"/>
          <a:stretch/>
        </p:blipFill>
        <p:spPr>
          <a:xfrm>
            <a:off x="6334049" y="2762402"/>
            <a:ext cx="5095951" cy="209580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0"/>
          <p:cNvSpPr txBox="1"/>
          <p:nvPr/>
        </p:nvSpPr>
        <p:spPr>
          <a:xfrm>
            <a:off x="10953598" y="6515100"/>
            <a:ext cx="9528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Faqja </a:t>
            </a:r>
            <a:r>
              <a:rPr lang="en-US" sz="9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f71b8e4fd025b9dc618bf5ab305be868.png" id="239" name="Google Shape;239;p11"/>
          <p:cNvPicPr preferRelativeResize="0"/>
          <p:nvPr/>
        </p:nvPicPr>
        <p:blipFill rotWithShape="1">
          <a:blip r:embed="rId3">
            <a:alphaModFix/>
          </a:blip>
          <a:srcRect b="0" l="-200" r="-200" t="0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d351e0a4361c90357b6760b5ab718b8b.png" id="240" name="Google Shape;240;p11"/>
          <p:cNvPicPr preferRelativeResize="0"/>
          <p:nvPr/>
        </p:nvPicPr>
        <p:blipFill rotWithShape="1">
          <a:blip r:embed="rId4">
            <a:alphaModFix/>
          </a:blip>
          <a:srcRect b="-401" l="0" r="0" t="-401"/>
          <a:stretch/>
        </p:blipFill>
        <p:spPr>
          <a:xfrm>
            <a:off x="0" y="705002"/>
            <a:ext cx="12191695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1"/>
          <p:cNvSpPr/>
          <p:nvPr/>
        </p:nvSpPr>
        <p:spPr>
          <a:xfrm>
            <a:off x="571500" y="1524305"/>
            <a:ext cx="5495544" cy="4686300"/>
          </a:xfrm>
          <a:prstGeom prst="roundRect">
            <a:avLst>
              <a:gd fmla="val 2849" name="adj"/>
            </a:avLst>
          </a:prstGeom>
          <a:solidFill>
            <a:srgbClr val="FEF2F2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6143854" y="1524305"/>
            <a:ext cx="5495544" cy="4686300"/>
          </a:xfrm>
          <a:prstGeom prst="roundRect">
            <a:avLst>
              <a:gd fmla="val 2849" name="adj"/>
            </a:avLst>
          </a:prstGeom>
          <a:solidFill>
            <a:srgbClr val="F0FDFA"/>
          </a:solidFill>
          <a:ln cap="flat" cmpd="sng" w="12700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571500" y="247802"/>
            <a:ext cx="342900" cy="342900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23118cdea157e9d703565e58ddd2b211.png" id="244" name="Google Shape;24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454" y="333756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1"/>
          <p:cNvSpPr txBox="1"/>
          <p:nvPr/>
        </p:nvSpPr>
        <p:spPr>
          <a:xfrm>
            <a:off x="1067105" y="247802"/>
            <a:ext cx="7620610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Time Series CV — kur data ka rend kronologjik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 txBox="1"/>
          <p:nvPr/>
        </p:nvSpPr>
        <p:spPr>
          <a:xfrm>
            <a:off x="8572500" y="323698"/>
            <a:ext cx="30486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Machine Learning | Modeli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 txBox="1"/>
          <p:nvPr/>
        </p:nvSpPr>
        <p:spPr>
          <a:xfrm>
            <a:off x="571500" y="1009498"/>
            <a:ext cx="11559845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K-Fold i rregullt është i gabuar për data kohore. Nuk mund t'i "shohësh të ardhmen" për të parashikuar të tashmen.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 txBox="1"/>
          <p:nvPr/>
        </p:nvSpPr>
        <p:spPr>
          <a:xfrm>
            <a:off x="761695" y="1714500"/>
            <a:ext cx="5095951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✗ K-Fold i rastësishëm mbi data kohore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 txBox="1"/>
          <p:nvPr/>
        </p:nvSpPr>
        <p:spPr>
          <a:xfrm>
            <a:off x="761695" y="2000707"/>
            <a:ext cx="5095951" cy="648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Shembulli:</a:t>
            </a: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parashikimi i konsumit të energjisë ditore. Nëse ndajmë rastësisht, mund të trajnojmë me </a:t>
            </a:r>
            <a:r>
              <a:rPr b="1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Nëntor 2025</a:t>
            </a: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dhe testojmë me </a:t>
            </a:r>
            <a:r>
              <a:rPr b="1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Shkurt 2025</a:t>
            </a:r>
            <a:r>
              <a:rPr lang="en-US" sz="10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9ce589ef95e01f8cfe4c698c141e32a0.png" id="250" name="Google Shape;250;p11"/>
          <p:cNvPicPr preferRelativeResize="0"/>
          <p:nvPr/>
        </p:nvPicPr>
        <p:blipFill rotWithShape="1">
          <a:blip r:embed="rId6">
            <a:alphaModFix/>
          </a:blip>
          <a:srcRect b="-4" l="0" r="0" t="-4"/>
          <a:stretch/>
        </p:blipFill>
        <p:spPr>
          <a:xfrm>
            <a:off x="761695" y="2952598"/>
            <a:ext cx="5095951" cy="323880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1"/>
          <p:cNvSpPr txBox="1"/>
          <p:nvPr/>
        </p:nvSpPr>
        <p:spPr>
          <a:xfrm>
            <a:off x="6334049" y="1714500"/>
            <a:ext cx="5095951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✓ TimeSeriesSplit — zgjidhja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 txBox="1"/>
          <p:nvPr/>
        </p:nvSpPr>
        <p:spPr>
          <a:xfrm>
            <a:off x="6334049" y="2000707"/>
            <a:ext cx="5095951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Train është </a:t>
            </a:r>
            <a:r>
              <a:rPr b="1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gjithmonë para</a:t>
            </a: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Test-it në kohë. Zhvillon "sikur ta kishim ndërtuar këtë muaj për të parashikuar muajin tjetër".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3c80dc4a66b3298a7aa395a69c1e0bab.png" id="253" name="Google Shape;253;p11"/>
          <p:cNvPicPr preferRelativeResize="0"/>
          <p:nvPr/>
        </p:nvPicPr>
        <p:blipFill rotWithShape="1">
          <a:blip r:embed="rId7">
            <a:alphaModFix/>
          </a:blip>
          <a:srcRect b="0" l="-4" r="-4" t="0"/>
          <a:stretch/>
        </p:blipFill>
        <p:spPr>
          <a:xfrm>
            <a:off x="6334049" y="2762402"/>
            <a:ext cx="5095951" cy="2381098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1"/>
          <p:cNvSpPr txBox="1"/>
          <p:nvPr/>
        </p:nvSpPr>
        <p:spPr>
          <a:xfrm>
            <a:off x="10953598" y="6515100"/>
            <a:ext cx="9528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Faqja </a:t>
            </a:r>
            <a:r>
              <a:rPr lang="en-US" sz="9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f71b8e4fd025b9dc618bf5ab305be868.png" id="260" name="Google Shape;260;p12"/>
          <p:cNvPicPr preferRelativeResize="0"/>
          <p:nvPr/>
        </p:nvPicPr>
        <p:blipFill rotWithShape="1">
          <a:blip r:embed="rId3">
            <a:alphaModFix/>
          </a:blip>
          <a:srcRect b="0" l="-200" r="-200" t="0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d351e0a4361c90357b6760b5ab718b8b.png" id="261" name="Google Shape;261;p12"/>
          <p:cNvPicPr preferRelativeResize="0"/>
          <p:nvPr/>
        </p:nvPicPr>
        <p:blipFill rotWithShape="1">
          <a:blip r:embed="rId4">
            <a:alphaModFix/>
          </a:blip>
          <a:srcRect b="-401" l="0" r="0" t="-401"/>
          <a:stretch/>
        </p:blipFill>
        <p:spPr>
          <a:xfrm>
            <a:off x="0" y="705002"/>
            <a:ext cx="12191695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2"/>
          <p:cNvSpPr/>
          <p:nvPr/>
        </p:nvSpPr>
        <p:spPr>
          <a:xfrm>
            <a:off x="571500" y="1524305"/>
            <a:ext cx="3829507" cy="4686300"/>
          </a:xfrm>
          <a:prstGeom prst="roundRect">
            <a:avLst>
              <a:gd fmla="val 3486" name="adj"/>
            </a:avLst>
          </a:prstGeom>
          <a:solidFill>
            <a:srgbClr val="F0FDFA"/>
          </a:solidFill>
          <a:ln cap="flat" cmpd="sng" w="12700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2"/>
          <p:cNvSpPr/>
          <p:nvPr/>
        </p:nvSpPr>
        <p:spPr>
          <a:xfrm>
            <a:off x="4572000" y="1524305"/>
            <a:ext cx="7067398" cy="4686300"/>
          </a:xfrm>
          <a:prstGeom prst="roundRect">
            <a:avLst>
              <a:gd fmla="val 2849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2"/>
          <p:cNvSpPr/>
          <p:nvPr/>
        </p:nvSpPr>
        <p:spPr>
          <a:xfrm>
            <a:off x="571500" y="247802"/>
            <a:ext cx="342900" cy="342900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7bfa205bfc55468b64cb6a408599c4de.png" id="265" name="Google Shape;26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454" y="333756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2"/>
          <p:cNvSpPr txBox="1"/>
          <p:nvPr/>
        </p:nvSpPr>
        <p:spPr>
          <a:xfrm>
            <a:off x="1067105" y="247802"/>
            <a:ext cx="7620610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Group K-Fold — kur mostrat vijnë me grupe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 txBox="1"/>
          <p:nvPr/>
        </p:nvSpPr>
        <p:spPr>
          <a:xfrm>
            <a:off x="8572500" y="323698"/>
            <a:ext cx="30486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Machine Learning | Modeli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 txBox="1"/>
          <p:nvPr/>
        </p:nvSpPr>
        <p:spPr>
          <a:xfrm>
            <a:off x="571500" y="1009498"/>
            <a:ext cx="1173541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Kur disa mostra vijnë nga i njëjti person / pajisje / grup, ato duhen të jenë bashkë — jo në train dhe test njëkohësisht.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 txBox="1"/>
          <p:nvPr/>
        </p:nvSpPr>
        <p:spPr>
          <a:xfrm>
            <a:off x="761695" y="1714500"/>
            <a:ext cx="34290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Kur na duhet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761695" y="2095805"/>
            <a:ext cx="3429000" cy="886054"/>
          </a:xfrm>
          <a:prstGeom prst="roundRect">
            <a:avLst>
              <a:gd fmla="val 10733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2"/>
          <p:cNvSpPr/>
          <p:nvPr/>
        </p:nvSpPr>
        <p:spPr>
          <a:xfrm>
            <a:off x="895198" y="2190902"/>
            <a:ext cx="304495" cy="304495"/>
          </a:xfrm>
          <a:prstGeom prst="roundRect">
            <a:avLst>
              <a:gd fmla="val 24925" name="adj"/>
            </a:avLst>
          </a:prstGeom>
          <a:solidFill>
            <a:srgbClr val="F0FD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1315381ee2f2684d0635bcf536f1c04f.png" id="272" name="Google Shape;272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1949" y="2257654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2"/>
          <p:cNvSpPr txBox="1"/>
          <p:nvPr/>
        </p:nvSpPr>
        <p:spPr>
          <a:xfrm>
            <a:off x="1295705" y="2266798"/>
            <a:ext cx="778154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Pacientët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 txBox="1"/>
          <p:nvPr/>
        </p:nvSpPr>
        <p:spPr>
          <a:xfrm>
            <a:off x="895198" y="2553005"/>
            <a:ext cx="3162910" cy="33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10 matje nga pacienti A + 8 nga pacienti B. A dhe B duhet të jenë bashkë në train ose test.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761695" y="3055010"/>
            <a:ext cx="3429000" cy="886054"/>
          </a:xfrm>
          <a:prstGeom prst="roundRect">
            <a:avLst>
              <a:gd fmla="val 10733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"/>
          <p:cNvSpPr/>
          <p:nvPr/>
        </p:nvSpPr>
        <p:spPr>
          <a:xfrm>
            <a:off x="895198" y="3151022"/>
            <a:ext cx="304495" cy="304495"/>
          </a:xfrm>
          <a:prstGeom prst="roundRect">
            <a:avLst>
              <a:gd fmla="val 24925" name="adj"/>
            </a:avLst>
          </a:prstGeom>
          <a:solidFill>
            <a:srgbClr val="F0FD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1bfd3d2e0e6faf9f93dd14abc6270c72.png" id="277" name="Google Shape;277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1949" y="3217774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2"/>
          <p:cNvSpPr txBox="1"/>
          <p:nvPr/>
        </p:nvSpPr>
        <p:spPr>
          <a:xfrm>
            <a:off x="1295705" y="3226918"/>
            <a:ext cx="687629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Klientët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 txBox="1"/>
          <p:nvPr/>
        </p:nvSpPr>
        <p:spPr>
          <a:xfrm>
            <a:off x="895198" y="3527939"/>
            <a:ext cx="31629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Klienti X ka 20 transaksione. Të gjitha duhet të jenë në të njëjtin fold.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761695" y="4015130"/>
            <a:ext cx="3429000" cy="886054"/>
          </a:xfrm>
          <a:prstGeom prst="roundRect">
            <a:avLst>
              <a:gd fmla="val 10733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2"/>
          <p:cNvSpPr/>
          <p:nvPr/>
        </p:nvSpPr>
        <p:spPr>
          <a:xfrm>
            <a:off x="895198" y="4110228"/>
            <a:ext cx="304495" cy="304495"/>
          </a:xfrm>
          <a:prstGeom prst="roundRect">
            <a:avLst>
              <a:gd fmla="val 24925" name="adj"/>
            </a:avLst>
          </a:prstGeom>
          <a:solidFill>
            <a:srgbClr val="F0FD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e4fb9f500ec0c92bb60baff35bd39066.png" id="282" name="Google Shape;282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1949" y="4176979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2"/>
          <p:cNvSpPr txBox="1"/>
          <p:nvPr/>
        </p:nvSpPr>
        <p:spPr>
          <a:xfrm>
            <a:off x="1295705" y="4187038"/>
            <a:ext cx="1623060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Pajisjet / sensorët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 txBox="1"/>
          <p:nvPr/>
        </p:nvSpPr>
        <p:spPr>
          <a:xfrm>
            <a:off x="895198" y="4472330"/>
            <a:ext cx="3162910" cy="33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Sensori #7 ka 1000 leximet. Nëse ndahen, modeli mëson "personalitetin" e sensorit dhe testohet mbi të.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761695" y="4975250"/>
            <a:ext cx="3429000" cy="724205"/>
          </a:xfrm>
          <a:prstGeom prst="roundRect">
            <a:avLst>
              <a:gd fmla="val 13131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895198" y="5070348"/>
            <a:ext cx="304495" cy="304495"/>
          </a:xfrm>
          <a:prstGeom prst="roundRect">
            <a:avLst>
              <a:gd fmla="val 24925" name="adj"/>
            </a:avLst>
          </a:prstGeom>
          <a:solidFill>
            <a:srgbClr val="F0FD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112e984480acb7c1fc71b3c97978aa30.png" id="287" name="Google Shape;287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1949" y="5137099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2"/>
          <p:cNvSpPr txBox="1"/>
          <p:nvPr/>
        </p:nvSpPr>
        <p:spPr>
          <a:xfrm>
            <a:off x="1295705" y="5147158"/>
            <a:ext cx="1537106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Nga i njëjti burim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 txBox="1"/>
          <p:nvPr/>
        </p:nvSpPr>
        <p:spPr>
          <a:xfrm>
            <a:off x="895198" y="5432450"/>
            <a:ext cx="3751783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50 artikuj nga i njëjti gazetar → mos i ndaj mes train/test.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 txBox="1"/>
          <p:nvPr/>
        </p:nvSpPr>
        <p:spPr>
          <a:xfrm>
            <a:off x="4762195" y="1714500"/>
            <a:ext cx="6667805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Si funksionon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fa4b63f58030d6ff5181ad2c1f98b261.png" id="291" name="Google Shape;291;p12"/>
          <p:cNvPicPr preferRelativeResize="0"/>
          <p:nvPr/>
        </p:nvPicPr>
        <p:blipFill rotWithShape="1">
          <a:blip r:embed="rId10">
            <a:alphaModFix/>
          </a:blip>
          <a:srcRect b="-2" l="0" r="0" t="-2"/>
          <a:stretch/>
        </p:blipFill>
        <p:spPr>
          <a:xfrm>
            <a:off x="4762195" y="2000707"/>
            <a:ext cx="6667805" cy="323880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2"/>
          <p:cNvSpPr txBox="1"/>
          <p:nvPr/>
        </p:nvSpPr>
        <p:spPr>
          <a:xfrm>
            <a:off x="10953598" y="6515100"/>
            <a:ext cx="9528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Faqja </a:t>
            </a:r>
            <a:r>
              <a:rPr lang="en-US" sz="9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f71b8e4fd025b9dc618bf5ab305be868.png" id="298" name="Google Shape;298;p13"/>
          <p:cNvPicPr preferRelativeResize="0"/>
          <p:nvPr/>
        </p:nvPicPr>
        <p:blipFill rotWithShape="1">
          <a:blip r:embed="rId3">
            <a:alphaModFix/>
          </a:blip>
          <a:srcRect b="0" l="-200" r="-200" t="0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d351e0a4361c90357b6760b5ab718b8b.png" id="299" name="Google Shape;299;p13"/>
          <p:cNvPicPr preferRelativeResize="0"/>
          <p:nvPr/>
        </p:nvPicPr>
        <p:blipFill rotWithShape="1">
          <a:blip r:embed="rId4">
            <a:alphaModFix/>
          </a:blip>
          <a:srcRect b="-401" l="0" r="0" t="-401"/>
          <a:stretch/>
        </p:blipFill>
        <p:spPr>
          <a:xfrm>
            <a:off x="0" y="705002"/>
            <a:ext cx="12191695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3"/>
          <p:cNvSpPr/>
          <p:nvPr/>
        </p:nvSpPr>
        <p:spPr>
          <a:xfrm>
            <a:off x="571500" y="1524305"/>
            <a:ext cx="11067898" cy="4686300"/>
          </a:xfrm>
          <a:prstGeom prst="roundRect">
            <a:avLst>
              <a:gd fmla="val 2849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3"/>
          <p:cNvSpPr/>
          <p:nvPr/>
        </p:nvSpPr>
        <p:spPr>
          <a:xfrm>
            <a:off x="571500" y="247802"/>
            <a:ext cx="342900" cy="342900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18799ac07a750da53f3dc1b9a661179e.png" id="302" name="Google Shape;30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454" y="333756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3"/>
          <p:cNvSpPr txBox="1"/>
          <p:nvPr/>
        </p:nvSpPr>
        <p:spPr>
          <a:xfrm>
            <a:off x="1067105" y="247802"/>
            <a:ext cx="7620610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Cilën CV të përdor? — cheat sheet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3"/>
          <p:cNvSpPr txBox="1"/>
          <p:nvPr/>
        </p:nvSpPr>
        <p:spPr>
          <a:xfrm>
            <a:off x="8572500" y="323698"/>
            <a:ext cx="30486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Machine Learning | Modeli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 txBox="1"/>
          <p:nvPr/>
        </p:nvSpPr>
        <p:spPr>
          <a:xfrm>
            <a:off x="571500" y="1009498"/>
            <a:ext cx="1104961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4 variante — përdor atë që përshtatet me strukturën e të dhënave.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6" name="Google Shape;306;p13"/>
          <p:cNvGraphicFramePr/>
          <p:nvPr/>
        </p:nvGraphicFramePr>
        <p:xfrm>
          <a:off x="761695" y="171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{B5BB7AA3-F1BD-4F27-B150-AD27E9DF071E}</a:tableStyleId>
              </a:tblPr>
              <a:tblGrid>
                <a:gridCol w="2076425"/>
                <a:gridCol w="3486300"/>
                <a:gridCol w="2647875"/>
                <a:gridCol w="2457700"/>
              </a:tblGrid>
              <a:tr h="546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25"/>
                        <a:buFont typeface="Inter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6B72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VARIANT</a:t>
                      </a:r>
                      <a:endParaRPr sz="825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14300" marB="114300" marR="133500" marL="1335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25"/>
                        <a:buFont typeface="Inter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6B72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KUR TA PËRDORËSH</a:t>
                      </a:r>
                      <a:endParaRPr sz="825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14300" marB="114300" marR="133500" marL="1335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25"/>
                        <a:buFont typeface="Inter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6B72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SHEMBULL</a:t>
                      </a:r>
                      <a:endParaRPr sz="825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14300" marB="114300" marR="133500" marL="1335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25"/>
                        <a:buFont typeface="Inter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6B72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SKLEARN</a:t>
                      </a:r>
                      <a:endParaRPr sz="825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14300" marB="114300" marR="133500" marL="1335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  <a:tr h="546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766E"/>
                        </a:buClr>
                        <a:buSzPts val="1013"/>
                        <a:buFont typeface="Inter"/>
                        <a:buNone/>
                      </a:pPr>
                      <a:r>
                        <a:rPr b="1" lang="en-US" sz="1013" u="none" cap="none" strike="noStrike">
                          <a:solidFill>
                            <a:srgbClr val="0F766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K-Fold</a:t>
                      </a:r>
                      <a:endParaRPr sz="12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25"/>
                        <a:buFont typeface="Inter"/>
                        <a:buNone/>
                      </a:pPr>
                      <a:r>
                        <a:rPr lang="en-US" sz="825" u="none" cap="none" strike="noStrike">
                          <a:solidFill>
                            <a:srgbClr val="6B72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standardi bazë</a:t>
                      </a:r>
                      <a:endParaRPr sz="1200" u="none" cap="none" strike="noStrike"/>
                    </a:p>
                  </a:txBody>
                  <a:tcPr marT="133500" marB="133500" marR="133500" marL="13350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13"/>
                        <a:buFont typeface="Inter"/>
                        <a:buNone/>
                      </a:pPr>
                      <a:r>
                        <a:rPr lang="en-US" sz="1013" u="none" cap="none" strike="noStrike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Regresion ose klasifikim me klasa relativisht të </a:t>
                      </a:r>
                      <a:r>
                        <a:rPr b="1" lang="en-US" sz="1013" u="none" cap="none" strike="noStrike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balancuara</a:t>
                      </a:r>
                      <a:r>
                        <a:rPr lang="en-US" sz="1013" u="none" cap="none" strike="noStrike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. Rasti më i zakonshëm.</a:t>
                      </a:r>
                      <a:endParaRPr sz="1200" u="none" cap="none" strike="noStrike"/>
                    </a:p>
                  </a:txBody>
                  <a:tcPr marT="133500" marB="133500" marR="133500" marL="13350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563"/>
                        </a:buClr>
                        <a:buSzPts val="1013"/>
                        <a:buFont typeface="Inter"/>
                        <a:buNone/>
                      </a:pPr>
                      <a:r>
                        <a:rPr i="1" lang="en-US" sz="1013" u="none" cap="none" strike="noStrik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Parashikim pagash · klasifikim spam/ham 50/50</a:t>
                      </a:r>
                      <a:endParaRPr sz="1013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33500" marB="133500" marR="133500" marL="13350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766E"/>
                        </a:buClr>
                        <a:buSzPts val="938"/>
                        <a:buFont typeface="JetBrains Mono"/>
                        <a:buNone/>
                      </a:pPr>
                      <a:r>
                        <a:rPr lang="en-US" sz="938" u="none" cap="none" strike="noStrike">
                          <a:solidFill>
                            <a:srgbClr val="0F766E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KFold(n_splits=5)</a:t>
                      </a:r>
                      <a:endParaRPr sz="938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133500" marB="133500" marR="133500" marL="13350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97316"/>
                        </a:buClr>
                        <a:buSzPts val="1013"/>
                        <a:buFont typeface="Inter"/>
                        <a:buNone/>
                      </a:pPr>
                      <a:r>
                        <a:rPr b="1" lang="en-US" sz="1013" u="none" cap="none" strike="noStrike">
                          <a:solidFill>
                            <a:srgbClr val="F9731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Stratified K-Fold</a:t>
                      </a:r>
                      <a:endParaRPr sz="12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25"/>
                        <a:buFont typeface="Inter"/>
                        <a:buNone/>
                      </a:pPr>
                      <a:r>
                        <a:rPr lang="en-US" sz="825" u="none" cap="none" strike="noStrike">
                          <a:solidFill>
                            <a:srgbClr val="6B72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për klasifikim</a:t>
                      </a:r>
                      <a:endParaRPr sz="1200" u="none" cap="none" strike="noStrike"/>
                    </a:p>
                  </a:txBody>
                  <a:tcPr marT="133500" marB="133500" marR="133500" marL="13350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13"/>
                        <a:buFont typeface="Inter"/>
                        <a:buNone/>
                      </a:pPr>
                      <a:r>
                        <a:rPr lang="en-US" sz="1013" u="none" cap="none" strike="noStrike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Klasifikim me </a:t>
                      </a:r>
                      <a:r>
                        <a:rPr b="1" lang="en-US" sz="1013" u="none" cap="none" strike="noStrike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klasa të pabalancuara</a:t>
                      </a:r>
                      <a:r>
                        <a:rPr lang="en-US" sz="1013" u="none" cap="none" strike="noStrike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(p.sh. 80/20 ose 95/5).</a:t>
                      </a:r>
                      <a:endParaRPr sz="1200" u="none" cap="none" strike="noStrike"/>
                    </a:p>
                  </a:txBody>
                  <a:tcPr marT="133500" marB="133500" marR="133500" marL="13350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563"/>
                        </a:buClr>
                        <a:buSzPts val="1013"/>
                        <a:buFont typeface="Inter"/>
                        <a:buNone/>
                      </a:pPr>
                      <a:r>
                        <a:rPr i="1" lang="en-US" sz="1013" u="none" cap="none" strike="noStrik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Detektim mashtrimi · churn · diagnozë e rrallë</a:t>
                      </a:r>
                      <a:endParaRPr sz="1013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33500" marB="133500" marR="133500" marL="13350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97316"/>
                        </a:buClr>
                        <a:buSzPts val="938"/>
                        <a:buFont typeface="JetBrains Mono"/>
                        <a:buNone/>
                      </a:pPr>
                      <a:r>
                        <a:rPr lang="en-US" sz="938" u="none" cap="none" strike="noStrike">
                          <a:solidFill>
                            <a:srgbClr val="F97316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StratifiedKFold(n_splits=5)</a:t>
                      </a:r>
                      <a:endParaRPr sz="938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133500" marB="133500" marR="133500" marL="13350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</a:tr>
              <a:tr h="546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766E"/>
                        </a:buClr>
                        <a:buSzPts val="1013"/>
                        <a:buFont typeface="Inter"/>
                        <a:buNone/>
                      </a:pPr>
                      <a:r>
                        <a:rPr b="1" lang="en-US" sz="1013" u="none" cap="none" strike="noStrike">
                          <a:solidFill>
                            <a:srgbClr val="0F766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Time Series Split</a:t>
                      </a:r>
                      <a:endParaRPr sz="12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25"/>
                        <a:buFont typeface="Inter"/>
                        <a:buNone/>
                      </a:pPr>
                      <a:r>
                        <a:rPr lang="en-US" sz="825" u="none" cap="none" strike="noStrike">
                          <a:solidFill>
                            <a:srgbClr val="6B72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për data me rend</a:t>
                      </a:r>
                      <a:endParaRPr sz="1200" u="none" cap="none" strike="noStrike"/>
                    </a:p>
                  </a:txBody>
                  <a:tcPr marT="133500" marB="133500" marR="133500" marL="13350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13"/>
                        <a:buFont typeface="Inter"/>
                        <a:buNone/>
                      </a:pPr>
                      <a:r>
                        <a:rPr lang="en-US" sz="1013" u="none" cap="none" strike="noStrike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ka </a:t>
                      </a:r>
                      <a:r>
                        <a:rPr b="1" lang="en-US" sz="1013" u="none" cap="none" strike="noStrike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rend kronologjik</a:t>
                      </a:r>
                      <a:r>
                        <a:rPr lang="en-US" sz="1013" u="none" cap="none" strike="noStrike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— s'mund të "shohësh të ardhmen" gjatë trajnimit.</a:t>
                      </a:r>
                      <a:endParaRPr sz="1200" u="none" cap="none" strike="noStrike"/>
                    </a:p>
                  </a:txBody>
                  <a:tcPr marT="133500" marB="133500" marR="133500" marL="13350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563"/>
                        </a:buClr>
                        <a:buSzPts val="1013"/>
                        <a:buFont typeface="Inter"/>
                        <a:buNone/>
                      </a:pPr>
                      <a:r>
                        <a:rPr i="1" lang="en-US" sz="1013" u="none" cap="none" strike="noStrik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Parashikim energjie · çmim aksionesh </a:t>
                      </a:r>
                      <a:endParaRPr sz="1013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33500" marB="133500" marR="133500" marL="13350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766E"/>
                        </a:buClr>
                        <a:buSzPts val="938"/>
                        <a:buFont typeface="JetBrains Mono"/>
                        <a:buNone/>
                      </a:pPr>
                      <a:r>
                        <a:rPr lang="en-US" sz="938" u="none" cap="none" strike="noStrike">
                          <a:solidFill>
                            <a:srgbClr val="0F766E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TimeSeriesSplit(n_splits=5)</a:t>
                      </a:r>
                      <a:endParaRPr sz="938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133500" marB="133500" marR="133500" marL="13350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97316"/>
                        </a:buClr>
                        <a:buSzPts val="1013"/>
                        <a:buFont typeface="Inter"/>
                        <a:buNone/>
                      </a:pPr>
                      <a:r>
                        <a:rPr b="1" lang="en-US" sz="1013" u="none" cap="none" strike="noStrike">
                          <a:solidFill>
                            <a:srgbClr val="F9731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Group K-Fold</a:t>
                      </a:r>
                      <a:endParaRPr sz="12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25"/>
                        <a:buFont typeface="Inter"/>
                        <a:buNone/>
                      </a:pPr>
                      <a:r>
                        <a:rPr lang="en-US" sz="825" u="none" cap="none" strike="noStrike">
                          <a:solidFill>
                            <a:srgbClr val="6B72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për mostra të grupuara</a:t>
                      </a:r>
                      <a:endParaRPr sz="1200" u="none" cap="none" strike="noStrike"/>
                    </a:p>
                  </a:txBody>
                  <a:tcPr marT="133500" marB="133500" marR="133500" marL="13350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13"/>
                        <a:buFont typeface="Inter"/>
                        <a:buNone/>
                      </a:pPr>
                      <a:r>
                        <a:rPr lang="en-US" sz="1013" u="none" cap="none" strike="noStrike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Disa mostra vijnë nga </a:t>
                      </a:r>
                      <a:r>
                        <a:rPr b="1" lang="en-US" sz="1013" u="none" cap="none" strike="noStrike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 njëjti subjekt</a:t>
                      </a:r>
                      <a:r>
                        <a:rPr lang="en-US" sz="1013" u="none" cap="none" strike="noStrike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. Të gjitha duhet të jenë në një fold.</a:t>
                      </a:r>
                      <a:endParaRPr sz="1200" u="none" cap="none" strike="noStrike"/>
                    </a:p>
                  </a:txBody>
                  <a:tcPr marT="133500" marB="133500" marR="133500" marL="13350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563"/>
                        </a:buClr>
                        <a:buSzPts val="1013"/>
                        <a:buFont typeface="Inter"/>
                        <a:buNone/>
                      </a:pPr>
                      <a:r>
                        <a:rPr i="1" lang="en-US" sz="1013" u="none" cap="none" strike="noStrik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mjekësore · sensor readings · dokumenta nga i njëjti burim</a:t>
                      </a:r>
                      <a:endParaRPr sz="1013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33500" marB="133500" marR="133500" marL="13350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97316"/>
                        </a:buClr>
                        <a:buSzPts val="938"/>
                        <a:buFont typeface="JetBrains Mono"/>
                        <a:buNone/>
                      </a:pPr>
                      <a:r>
                        <a:rPr lang="en-US" sz="938" u="none" cap="none" strike="noStrike">
                          <a:solidFill>
                            <a:srgbClr val="F97316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GroupKFold(n_splits=5)</a:t>
                      </a:r>
                      <a:endParaRPr sz="938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133500" marB="133500" marR="133500" marL="13350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</a:tr>
              <a:tr h="546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013"/>
                        <a:buFont typeface="Inter"/>
                        <a:buNone/>
                      </a:pPr>
                      <a:r>
                        <a:rPr b="1" lang="en-US" sz="1013" u="none" cap="none" strike="noStrike">
                          <a:solidFill>
                            <a:srgbClr val="6B72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LOOCV</a:t>
                      </a:r>
                      <a:endParaRPr sz="12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825"/>
                        <a:buFont typeface="Inter"/>
                        <a:buNone/>
                      </a:pPr>
                      <a:r>
                        <a:rPr lang="en-US" sz="825" u="none" cap="none" strike="noStrike">
                          <a:solidFill>
                            <a:srgbClr val="9CA3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(për referencë)</a:t>
                      </a:r>
                      <a:endParaRPr sz="1200" u="none" cap="none" strike="noStrike"/>
                    </a:p>
                  </a:txBody>
                  <a:tcPr marT="133500" marB="133500" marR="133500" marL="13350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563"/>
                        </a:buClr>
                        <a:buSzPts val="1013"/>
                        <a:buFont typeface="Inter"/>
                        <a:buNone/>
                      </a:pPr>
                      <a:r>
                        <a:rPr lang="en-US" sz="1013" u="none" cap="none" strike="noStrik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 mostër = test, të tjerat = train. Përsërit N herë. </a:t>
                      </a:r>
                      <a:r>
                        <a:rPr b="1" lang="en-US" sz="1013" u="none" cap="none" strike="noStrik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Shumë ngadalë</a:t>
                      </a:r>
                      <a:r>
                        <a:rPr lang="en-US" sz="1013" u="none" cap="none" strike="noStrik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, rrallë e nevojshme.</a:t>
                      </a:r>
                      <a:endParaRPr sz="1200" u="none" cap="none" strike="noStrike"/>
                    </a:p>
                  </a:txBody>
                  <a:tcPr marT="133500" marB="133500" marR="133500" marL="13350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013"/>
                        <a:buFont typeface="Inter"/>
                        <a:buNone/>
                      </a:pPr>
                      <a:r>
                        <a:rPr i="1" lang="en-US" sz="1013" u="none" cap="none" strike="noStrike">
                          <a:solidFill>
                            <a:srgbClr val="9CA3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shumë e pakët (N &lt; 50). Në praktikë sot përdoret rrallë.</a:t>
                      </a:r>
                      <a:endParaRPr sz="1013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33500" marB="133500" marR="133500" marL="13350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938"/>
                        <a:buFont typeface="JetBrains Mono"/>
                        <a:buNone/>
                      </a:pPr>
                      <a:r>
                        <a:rPr lang="en-US" sz="938" u="none" cap="none" strike="noStrike">
                          <a:solidFill>
                            <a:srgbClr val="6B728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LeaveOneOut()</a:t>
                      </a:r>
                      <a:endParaRPr sz="938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133500" marB="133500" marR="133500" marL="13350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7" name="Google Shape;307;p13"/>
          <p:cNvSpPr txBox="1"/>
          <p:nvPr/>
        </p:nvSpPr>
        <p:spPr>
          <a:xfrm>
            <a:off x="10953598" y="6515100"/>
            <a:ext cx="9528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Faqja</a:t>
            </a:r>
            <a:r>
              <a:rPr lang="en-US" sz="9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ae0d8616539100ff16fb2f8c0ccf1a7a.png" id="313" name="Google Shape;313;p14"/>
          <p:cNvPicPr preferRelativeResize="0"/>
          <p:nvPr/>
        </p:nvPicPr>
        <p:blipFill rotWithShape="1">
          <a:blip r:embed="rId3">
            <a:alphaModFix/>
          </a:blip>
          <a:srcRect b="0" l="-200" r="-200" t="0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90589d74a3e7cccc815be5d788d3278b.png" id="314" name="Google Shape;314;p14"/>
          <p:cNvPicPr preferRelativeResize="0"/>
          <p:nvPr/>
        </p:nvPicPr>
        <p:blipFill rotWithShape="1">
          <a:blip r:embed="rId4">
            <a:alphaModFix/>
          </a:blip>
          <a:srcRect b="-401" l="0" r="0" t="-401"/>
          <a:stretch/>
        </p:blipFill>
        <p:spPr>
          <a:xfrm>
            <a:off x="0" y="705002"/>
            <a:ext cx="12191695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4"/>
          <p:cNvSpPr/>
          <p:nvPr/>
        </p:nvSpPr>
        <p:spPr>
          <a:xfrm>
            <a:off x="571500" y="1524305"/>
            <a:ext cx="5544007" cy="4686300"/>
          </a:xfrm>
          <a:prstGeom prst="roundRect">
            <a:avLst>
              <a:gd fmla="val 2849" name="adj"/>
            </a:avLst>
          </a:prstGeom>
          <a:solidFill>
            <a:srgbClr val="FFF7ED"/>
          </a:solidFill>
          <a:ln cap="flat" cmpd="sng" w="1270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4"/>
          <p:cNvSpPr/>
          <p:nvPr/>
        </p:nvSpPr>
        <p:spPr>
          <a:xfrm>
            <a:off x="6286500" y="1524305"/>
            <a:ext cx="5352898" cy="4686300"/>
          </a:xfrm>
          <a:prstGeom prst="roundRect">
            <a:avLst>
              <a:gd fmla="val 2849" name="adj"/>
            </a:avLst>
          </a:prstGeom>
          <a:solidFill>
            <a:srgbClr val="F0FDFA"/>
          </a:solidFill>
          <a:ln cap="flat" cmpd="sng" w="12700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4"/>
          <p:cNvSpPr/>
          <p:nvPr/>
        </p:nvSpPr>
        <p:spPr>
          <a:xfrm>
            <a:off x="571500" y="247802"/>
            <a:ext cx="342900" cy="342900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52ad937b5bde8c6ed395463662825d45.png" id="318" name="Google Shape;31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454" y="333756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4"/>
          <p:cNvSpPr txBox="1"/>
          <p:nvPr/>
        </p:nvSpPr>
        <p:spPr>
          <a:xfrm>
            <a:off x="1067105" y="247802"/>
            <a:ext cx="7620610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Pjesa 2 — Bootstrapping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 txBox="1"/>
          <p:nvPr/>
        </p:nvSpPr>
        <p:spPr>
          <a:xfrm>
            <a:off x="8572500" y="323698"/>
            <a:ext cx="30486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Machine Learning | Modeli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 txBox="1"/>
          <p:nvPr/>
        </p:nvSpPr>
        <p:spPr>
          <a:xfrm>
            <a:off x="571500" y="1009498"/>
            <a:ext cx="1104961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Sampling me zëvendësim — një teknikë e thjeshtë që na jep shumë "kopje" të dataset-it nga një i vetëm.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 txBox="1"/>
          <p:nvPr/>
        </p:nvSpPr>
        <p:spPr>
          <a:xfrm>
            <a:off x="761695" y="1714500"/>
            <a:ext cx="51435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rPr>
              <a:t>Analogji — kutia me topa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 txBox="1"/>
          <p:nvPr/>
        </p:nvSpPr>
        <p:spPr>
          <a:xfrm>
            <a:off x="761695" y="2038198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Ke një kuti me 100 topa. Sa herë zgjedh një top, e </a:t>
            </a:r>
            <a:r>
              <a:rPr b="1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shkruan numrin dhe e kthen brenda</a:t>
            </a: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. Pastaj zgjedh sërish nga e njëjta kuti.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7626281beaf0f0a1d7adfa4b802349d4.png" id="324" name="Google Shape;324;p14"/>
          <p:cNvPicPr preferRelativeResize="0"/>
          <p:nvPr/>
        </p:nvPicPr>
        <p:blipFill rotWithShape="1">
          <a:blip r:embed="rId6">
            <a:alphaModFix/>
          </a:blip>
          <a:srcRect b="-5" l="0" r="0" t="-5"/>
          <a:stretch/>
        </p:blipFill>
        <p:spPr>
          <a:xfrm>
            <a:off x="761695" y="2809951"/>
            <a:ext cx="5143500" cy="323880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4"/>
          <p:cNvSpPr txBox="1"/>
          <p:nvPr/>
        </p:nvSpPr>
        <p:spPr>
          <a:xfrm>
            <a:off x="6476695" y="1714500"/>
            <a:ext cx="4953305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Pse na duhet kjo?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 txBox="1"/>
          <p:nvPr/>
        </p:nvSpPr>
        <p:spPr>
          <a:xfrm>
            <a:off x="6476695" y="2038198"/>
            <a:ext cx="4953305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Duam të mësojmë </a:t>
            </a:r>
            <a:r>
              <a:rPr b="1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sa i sigurt</a:t>
            </a: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është një numër i vetëm (p.sh. accuracy = 0.90). Bootstrapping na jep </a:t>
            </a:r>
            <a:r>
              <a:rPr b="1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shpërndarjen</a:t>
            </a: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e mundshme.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6476695" y="2809951"/>
            <a:ext cx="4953305" cy="685800"/>
          </a:xfrm>
          <a:prstGeom prst="roundRect">
            <a:avLst>
              <a:gd fmla="val 138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4"/>
          <p:cNvSpPr/>
          <p:nvPr/>
        </p:nvSpPr>
        <p:spPr>
          <a:xfrm>
            <a:off x="6476695" y="2809951"/>
            <a:ext cx="28346" cy="685800"/>
          </a:xfrm>
          <a:prstGeom prst="roundRect">
            <a:avLst>
              <a:gd fmla="val 335489" name="adj"/>
            </a:avLst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4"/>
          <p:cNvSpPr txBox="1"/>
          <p:nvPr/>
        </p:nvSpPr>
        <p:spPr>
          <a:xfrm>
            <a:off x="6657746" y="2943454"/>
            <a:ext cx="4620463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1 · Estimim i pasigurisë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 txBox="1"/>
          <p:nvPr/>
        </p:nvSpPr>
        <p:spPr>
          <a:xfrm>
            <a:off x="6657746" y="3161995"/>
            <a:ext cx="5306263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Sa mund të lëkundej kjo Accuracy nëse dataset-i do të ishte pak ndryshe?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6476695" y="3601822"/>
            <a:ext cx="4953305" cy="685800"/>
          </a:xfrm>
          <a:prstGeom prst="roundRect">
            <a:avLst>
              <a:gd fmla="val 138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4"/>
          <p:cNvSpPr/>
          <p:nvPr/>
        </p:nvSpPr>
        <p:spPr>
          <a:xfrm>
            <a:off x="6476695" y="3601822"/>
            <a:ext cx="28346" cy="685800"/>
          </a:xfrm>
          <a:prstGeom prst="roundRect">
            <a:avLst>
              <a:gd fmla="val 335489" name="adj"/>
            </a:avLst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4"/>
          <p:cNvSpPr txBox="1"/>
          <p:nvPr/>
        </p:nvSpPr>
        <p:spPr>
          <a:xfrm>
            <a:off x="6657746" y="3735324"/>
            <a:ext cx="4620463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rPr>
              <a:t>2 · Confidence Intervals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 txBox="1"/>
          <p:nvPr/>
        </p:nvSpPr>
        <p:spPr>
          <a:xfrm>
            <a:off x="6657746" y="3953866"/>
            <a:ext cx="5018227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Në vend të "0.90", themi </a:t>
            </a:r>
            <a:r>
              <a:rPr b="1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"0.90, me 95% siguri mes 0.87 dhe 0.93"</a:t>
            </a: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6476695" y="4393692"/>
            <a:ext cx="4953305" cy="875995"/>
          </a:xfrm>
          <a:prstGeom prst="roundRect">
            <a:avLst>
              <a:gd fmla="val 1085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4"/>
          <p:cNvSpPr/>
          <p:nvPr/>
        </p:nvSpPr>
        <p:spPr>
          <a:xfrm>
            <a:off x="6476695" y="4393692"/>
            <a:ext cx="28346" cy="875995"/>
          </a:xfrm>
          <a:prstGeom prst="roundRect">
            <a:avLst>
              <a:gd fmla="val 335489" name="adj"/>
            </a:avLst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4"/>
          <p:cNvSpPr txBox="1"/>
          <p:nvPr/>
        </p:nvSpPr>
        <p:spPr>
          <a:xfrm>
            <a:off x="6657746" y="4527194"/>
            <a:ext cx="4620463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3 · Kuptim i variancës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 txBox="1"/>
          <p:nvPr/>
        </p:nvSpPr>
        <p:spPr>
          <a:xfrm>
            <a:off x="6657746" y="4746650"/>
            <a:ext cx="4620463" cy="391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Nëse 1000 dataset-e bootstrap japin score-e që variojnë shumë, modeli është i paqëndrueshëm.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4"/>
          <p:cNvSpPr txBox="1"/>
          <p:nvPr/>
        </p:nvSpPr>
        <p:spPr>
          <a:xfrm>
            <a:off x="10953598" y="6515100"/>
            <a:ext cx="9528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Faqja 1</a:t>
            </a:r>
            <a:r>
              <a:rPr lang="en-US" sz="9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f71b8e4fd025b9dc618bf5ab305be868.png" id="345" name="Google Shape;345;p15"/>
          <p:cNvPicPr preferRelativeResize="0"/>
          <p:nvPr/>
        </p:nvPicPr>
        <p:blipFill rotWithShape="1">
          <a:blip r:embed="rId3">
            <a:alphaModFix/>
          </a:blip>
          <a:srcRect b="0" l="-200" r="-200" t="0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d351e0a4361c90357b6760b5ab718b8b.png" id="346" name="Google Shape;346;p15"/>
          <p:cNvPicPr preferRelativeResize="0"/>
          <p:nvPr/>
        </p:nvPicPr>
        <p:blipFill rotWithShape="1">
          <a:blip r:embed="rId4">
            <a:alphaModFix/>
          </a:blip>
          <a:srcRect b="-401" l="0" r="0" t="-401"/>
          <a:stretch/>
        </p:blipFill>
        <p:spPr>
          <a:xfrm>
            <a:off x="0" y="705002"/>
            <a:ext cx="12191695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5"/>
          <p:cNvSpPr/>
          <p:nvPr/>
        </p:nvSpPr>
        <p:spPr>
          <a:xfrm>
            <a:off x="571500" y="1524305"/>
            <a:ext cx="11067898" cy="4686300"/>
          </a:xfrm>
          <a:prstGeom prst="roundRect">
            <a:avLst>
              <a:gd fmla="val 2849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5"/>
          <p:cNvSpPr/>
          <p:nvPr/>
        </p:nvSpPr>
        <p:spPr>
          <a:xfrm>
            <a:off x="571500" y="247802"/>
            <a:ext cx="342900" cy="342900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11a35d1f85058f1bbb1891364dc042d1.png" id="349" name="Google Shape;34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454" y="333756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5"/>
          <p:cNvSpPr txBox="1"/>
          <p:nvPr/>
        </p:nvSpPr>
        <p:spPr>
          <a:xfrm>
            <a:off x="1067105" y="247802"/>
            <a:ext cx="7620610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Cross-Validation vs Bootstrapping — krahasim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5"/>
          <p:cNvSpPr txBox="1"/>
          <p:nvPr/>
        </p:nvSpPr>
        <p:spPr>
          <a:xfrm>
            <a:off x="8572500" y="323698"/>
            <a:ext cx="30486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Machine Learning | Modeli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5"/>
          <p:cNvSpPr txBox="1"/>
          <p:nvPr/>
        </p:nvSpPr>
        <p:spPr>
          <a:xfrm>
            <a:off x="571500" y="1009498"/>
            <a:ext cx="1104961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Të dyja teknikat trajnojnë modelin disa herë — por qëllimet dhe rezultatet janë të ndryshme.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5"/>
          <p:cNvSpPr/>
          <p:nvPr/>
        </p:nvSpPr>
        <p:spPr>
          <a:xfrm>
            <a:off x="761695" y="2352751"/>
            <a:ext cx="2876702" cy="28346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5"/>
          <p:cNvSpPr/>
          <p:nvPr/>
        </p:nvSpPr>
        <p:spPr>
          <a:xfrm>
            <a:off x="3638398" y="1714500"/>
            <a:ext cx="3181198" cy="666598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5"/>
          <p:cNvSpPr/>
          <p:nvPr/>
        </p:nvSpPr>
        <p:spPr>
          <a:xfrm>
            <a:off x="3638398" y="2352751"/>
            <a:ext cx="3181198" cy="28346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5"/>
          <p:cNvSpPr/>
          <p:nvPr/>
        </p:nvSpPr>
        <p:spPr>
          <a:xfrm>
            <a:off x="3791102" y="1886407"/>
            <a:ext cx="304495" cy="304495"/>
          </a:xfrm>
          <a:prstGeom prst="roundRect">
            <a:avLst>
              <a:gd fmla="val 24925" name="adj"/>
            </a:avLst>
          </a:prstGeom>
          <a:solidFill>
            <a:srgbClr val="0F766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c9df0c4e097d115e0a6b4b0627125da8.png" id="357" name="Google Shape;35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57854" y="1952244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5"/>
          <p:cNvSpPr txBox="1"/>
          <p:nvPr/>
        </p:nvSpPr>
        <p:spPr>
          <a:xfrm>
            <a:off x="4190695" y="1867205"/>
            <a:ext cx="18288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Cross-Validation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 txBox="1"/>
          <p:nvPr/>
        </p:nvSpPr>
        <p:spPr>
          <a:xfrm>
            <a:off x="4190695" y="2076602"/>
            <a:ext cx="2176272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065F46"/>
                </a:solidFill>
                <a:latin typeface="Inter"/>
                <a:ea typeface="Inter"/>
                <a:cs typeface="Inter"/>
                <a:sym typeface="Inter"/>
              </a:rPr>
              <a:t>K-Fold, Stratified, TimeSeries, Group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6815023" y="1714500"/>
            <a:ext cx="4619549" cy="666598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5"/>
          <p:cNvSpPr/>
          <p:nvPr/>
        </p:nvSpPr>
        <p:spPr>
          <a:xfrm>
            <a:off x="6815023" y="2352751"/>
            <a:ext cx="4619549" cy="28346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5"/>
          <p:cNvSpPr/>
          <p:nvPr/>
        </p:nvSpPr>
        <p:spPr>
          <a:xfrm>
            <a:off x="6967728" y="1886407"/>
            <a:ext cx="304495" cy="304495"/>
          </a:xfrm>
          <a:prstGeom prst="roundRect">
            <a:avLst>
              <a:gd fmla="val 24925" name="adj"/>
            </a:avLst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3530846ba94aeb686f35a19e253b523a.png" id="363" name="Google Shape;36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34479" y="1952244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5"/>
          <p:cNvSpPr txBox="1"/>
          <p:nvPr/>
        </p:nvSpPr>
        <p:spPr>
          <a:xfrm>
            <a:off x="7367321" y="1867205"/>
            <a:ext cx="2086661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rPr>
              <a:t>Bootstrapping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5"/>
          <p:cNvSpPr txBox="1"/>
          <p:nvPr/>
        </p:nvSpPr>
        <p:spPr>
          <a:xfrm>
            <a:off x="7367321" y="2076602"/>
            <a:ext cx="2472538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4A1A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7C4A1A"/>
                </a:solidFill>
                <a:latin typeface="Inter"/>
                <a:ea typeface="Inter"/>
                <a:cs typeface="Inter"/>
                <a:sym typeface="Inter"/>
              </a:rPr>
              <a:t>Sample me zëvendësim, 1000+ iteracione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761695" y="2958084"/>
            <a:ext cx="2876702" cy="9144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3F4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5"/>
          <p:cNvSpPr txBox="1"/>
          <p:nvPr/>
        </p:nvSpPr>
        <p:spPr>
          <a:xfrm>
            <a:off x="761695" y="2376526"/>
            <a:ext cx="2876702" cy="448056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52400" spcFirstLastPara="1" rIns="152400" wrap="square" tIns="13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Qëllimi kryesor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5"/>
          <p:cNvSpPr/>
          <p:nvPr/>
        </p:nvSpPr>
        <p:spPr>
          <a:xfrm>
            <a:off x="3638398" y="2958084"/>
            <a:ext cx="3181198" cy="9144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3F4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5"/>
          <p:cNvSpPr txBox="1"/>
          <p:nvPr/>
        </p:nvSpPr>
        <p:spPr>
          <a:xfrm>
            <a:off x="3638398" y="2376526"/>
            <a:ext cx="3182112" cy="448056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52400" spcFirstLastPara="1" rIns="152400" wrap="square" tIns="13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Të gjejmë </a:t>
            </a:r>
            <a:r>
              <a:rPr b="1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score-in mesatar</a:t>
            </a: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të modelit — sa mirë punon.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6815023" y="2958084"/>
            <a:ext cx="4619549" cy="9144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3F4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5"/>
          <p:cNvSpPr txBox="1"/>
          <p:nvPr/>
        </p:nvSpPr>
        <p:spPr>
          <a:xfrm>
            <a:off x="6815023" y="2376526"/>
            <a:ext cx="4620463" cy="448056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52400" spcFirstLastPara="1" rIns="152400" wrap="square" tIns="13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Të gjejmë </a:t>
            </a:r>
            <a:r>
              <a:rPr b="1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pasigurinë</a:t>
            </a: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rreth atij score-i — sa i lëkundshëm është.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5"/>
          <p:cNvSpPr/>
          <p:nvPr/>
        </p:nvSpPr>
        <p:spPr>
          <a:xfrm>
            <a:off x="761695" y="2967228"/>
            <a:ext cx="10668305" cy="580644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5"/>
          <p:cNvSpPr/>
          <p:nvPr/>
        </p:nvSpPr>
        <p:spPr>
          <a:xfrm>
            <a:off x="761695" y="3538728"/>
            <a:ext cx="2876702" cy="9144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3F4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5"/>
          <p:cNvSpPr txBox="1"/>
          <p:nvPr/>
        </p:nvSpPr>
        <p:spPr>
          <a:xfrm>
            <a:off x="761695" y="2967228"/>
            <a:ext cx="2876702" cy="438912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52400" spcFirstLastPara="1" rIns="152400" wrap="square" tIns="13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Si </a:t>
            </a:r>
            <a:r>
              <a:rPr b="1" lang="en-US" sz="10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krijohen </a:t>
            </a:r>
            <a:r>
              <a:rPr b="1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të dhënat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3638398" y="3538728"/>
            <a:ext cx="3181198" cy="9144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3F4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5"/>
          <p:cNvSpPr txBox="1"/>
          <p:nvPr/>
        </p:nvSpPr>
        <p:spPr>
          <a:xfrm>
            <a:off x="3638398" y="2967228"/>
            <a:ext cx="3182112" cy="438912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52400" spcFirstLastPara="1" rIns="152400" wrap="square" tIns="13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Pa zëvendësim</a:t>
            </a: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— çdo mostër përdoret 1× si test.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6815023" y="3538728"/>
            <a:ext cx="4619549" cy="9144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3F4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5"/>
          <p:cNvSpPr txBox="1"/>
          <p:nvPr/>
        </p:nvSpPr>
        <p:spPr>
          <a:xfrm>
            <a:off x="6815023" y="2967228"/>
            <a:ext cx="4620463" cy="438912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52400" spcFirstLastPara="1" rIns="152400" wrap="square" tIns="13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Me zëvendësim</a:t>
            </a: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— një mostër mund të dalë disa herë, të tjerat mund të mos dalin fare.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761695" y="4119372"/>
            <a:ext cx="2876702" cy="9144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3F4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5"/>
          <p:cNvSpPr txBox="1"/>
          <p:nvPr/>
        </p:nvSpPr>
        <p:spPr>
          <a:xfrm>
            <a:off x="761695" y="3547872"/>
            <a:ext cx="2876702" cy="438912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52400" spcFirstLastPara="1" rIns="152400" wrap="square" tIns="13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Kur në workflow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3638398" y="4119372"/>
            <a:ext cx="3181198" cy="9144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3F4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5"/>
          <p:cNvSpPr txBox="1"/>
          <p:nvPr/>
        </p:nvSpPr>
        <p:spPr>
          <a:xfrm>
            <a:off x="3638398" y="3547872"/>
            <a:ext cx="3182112" cy="438912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52400" spcFirstLastPara="1" rIns="152400" wrap="square" tIns="13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Zgjedhja e modelit</a:t>
            </a: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— cili nga 3 modele është më i miri?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6815023" y="4119372"/>
            <a:ext cx="4619549" cy="9144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3F4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5"/>
          <p:cNvSpPr txBox="1"/>
          <p:nvPr/>
        </p:nvSpPr>
        <p:spPr>
          <a:xfrm>
            <a:off x="6815023" y="3547872"/>
            <a:ext cx="4620463" cy="438912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52400" spcFirstLastPara="1" rIns="152400" wrap="square" tIns="13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Raportimi final</a:t>
            </a: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— sa i sigurt është score-i që i japim menaxherit?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761695" y="4129430"/>
            <a:ext cx="10668305" cy="428854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5"/>
          <p:cNvSpPr/>
          <p:nvPr/>
        </p:nvSpPr>
        <p:spPr>
          <a:xfrm>
            <a:off x="761695" y="4549140"/>
            <a:ext cx="2876702" cy="9144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3F4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5"/>
          <p:cNvSpPr txBox="1"/>
          <p:nvPr/>
        </p:nvSpPr>
        <p:spPr>
          <a:xfrm>
            <a:off x="761695" y="4129430"/>
            <a:ext cx="2876702" cy="286207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52400" spcFirstLastPara="1" rIns="152400" wrap="square" tIns="13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Përgjigjet pyetjes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3638398" y="4549140"/>
            <a:ext cx="3181198" cy="9144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3F4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5"/>
          <p:cNvSpPr txBox="1"/>
          <p:nvPr/>
        </p:nvSpPr>
        <p:spPr>
          <a:xfrm>
            <a:off x="3638398" y="4129430"/>
            <a:ext cx="3182112" cy="286207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52400" spcFirstLastPara="1" rIns="152400" wrap="square" tIns="13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Inter"/>
              <a:buNone/>
            </a:pPr>
            <a:r>
              <a:rPr b="0" i="1" lang="en-US" sz="10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"Sa mirë punon modeli mesatarisht?"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6815023" y="4549140"/>
            <a:ext cx="4619549" cy="9144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3F4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5"/>
          <p:cNvSpPr txBox="1"/>
          <p:nvPr/>
        </p:nvSpPr>
        <p:spPr>
          <a:xfrm>
            <a:off x="6815023" y="4129430"/>
            <a:ext cx="4620463" cy="286207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52400" spcFirstLastPara="1" rIns="152400" wrap="square" tIns="13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00"/>
              <a:buFont typeface="Inter"/>
              <a:buNone/>
            </a:pPr>
            <a:r>
              <a:rPr b="0" i="1" lang="en-US" sz="1000" u="none" cap="none" strike="noStrike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rPr>
              <a:t>"Sa mund të ndryshojë score-i në produksion?"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761695" y="4977079"/>
            <a:ext cx="2876702" cy="9144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3F4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5"/>
          <p:cNvSpPr txBox="1"/>
          <p:nvPr/>
        </p:nvSpPr>
        <p:spPr>
          <a:xfrm>
            <a:off x="761695" y="4557370"/>
            <a:ext cx="2876702" cy="286207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52400" spcFirstLastPara="1" rIns="152400" wrap="square" tIns="13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Numri i trajnimeve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5"/>
          <p:cNvSpPr/>
          <p:nvPr/>
        </p:nvSpPr>
        <p:spPr>
          <a:xfrm>
            <a:off x="3638398" y="4977079"/>
            <a:ext cx="3181198" cy="9144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3F4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5"/>
          <p:cNvSpPr txBox="1"/>
          <p:nvPr/>
        </p:nvSpPr>
        <p:spPr>
          <a:xfrm>
            <a:off x="3638398" y="4557370"/>
            <a:ext cx="3182112" cy="286207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52400" spcFirstLastPara="1" rIns="152400" wrap="square" tIns="13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K trajnime (zakonisht 5 ose 10)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6815023" y="4977079"/>
            <a:ext cx="4619549" cy="9144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3F4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5"/>
          <p:cNvSpPr txBox="1"/>
          <p:nvPr/>
        </p:nvSpPr>
        <p:spPr>
          <a:xfrm>
            <a:off x="6815023" y="4557370"/>
            <a:ext cx="4620463" cy="286207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52400" spcFirstLastPara="1" rIns="152400" wrap="square" tIns="13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200–1000 trajnime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5"/>
          <p:cNvSpPr/>
          <p:nvPr/>
        </p:nvSpPr>
        <p:spPr>
          <a:xfrm>
            <a:off x="761695" y="4986223"/>
            <a:ext cx="10668305" cy="599846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5"/>
          <p:cNvSpPr txBox="1"/>
          <p:nvPr/>
        </p:nvSpPr>
        <p:spPr>
          <a:xfrm>
            <a:off x="914400" y="4986225"/>
            <a:ext cx="2724000" cy="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Rezultati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5"/>
          <p:cNvSpPr txBox="1"/>
          <p:nvPr/>
        </p:nvSpPr>
        <p:spPr>
          <a:xfrm>
            <a:off x="3791098" y="4985323"/>
            <a:ext cx="3182100" cy="6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JetBrains Mono"/>
              <a:buNone/>
            </a:pPr>
            <a:r>
              <a:rPr b="0" i="0" lang="en-US" sz="900" u="none" cap="none" strike="noStrike">
                <a:solidFill>
                  <a:srgbClr val="0F766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0.82 ± 0.05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(mesatare ± luhatje standarde)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 txBox="1"/>
          <p:nvPr/>
        </p:nvSpPr>
        <p:spPr>
          <a:xfrm>
            <a:off x="6967725" y="4986225"/>
            <a:ext cx="4467900" cy="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00"/>
              <a:buFont typeface="JetBrains Mono"/>
              <a:buNone/>
            </a:pPr>
            <a:r>
              <a:rPr b="0" i="0" lang="en-US" sz="900" u="none" cap="none" strike="noStrike">
                <a:solidFill>
                  <a:srgbClr val="F9731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0.89, CI 95% = [0.84, 0.94]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(interval brenda së cilit është vlera reale)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5"/>
          <p:cNvSpPr txBox="1"/>
          <p:nvPr/>
        </p:nvSpPr>
        <p:spPr>
          <a:xfrm>
            <a:off x="10953598" y="6515100"/>
            <a:ext cx="9528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Faqja 1</a:t>
            </a:r>
            <a:r>
              <a:rPr lang="en-US" sz="9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f71b8e4fd025b9dc618bf5ab305be868.png" id="408" name="Google Shape;408;p16"/>
          <p:cNvPicPr preferRelativeResize="0"/>
          <p:nvPr/>
        </p:nvPicPr>
        <p:blipFill rotWithShape="1">
          <a:blip r:embed="rId3">
            <a:alphaModFix/>
          </a:blip>
          <a:srcRect b="0" l="-200" r="-200" t="0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d351e0a4361c90357b6760b5ab718b8b.png" id="409" name="Google Shape;409;p16"/>
          <p:cNvPicPr preferRelativeResize="0"/>
          <p:nvPr/>
        </p:nvPicPr>
        <p:blipFill rotWithShape="1">
          <a:blip r:embed="rId4">
            <a:alphaModFix/>
          </a:blip>
          <a:srcRect b="-401" l="0" r="0" t="-401"/>
          <a:stretch/>
        </p:blipFill>
        <p:spPr>
          <a:xfrm>
            <a:off x="0" y="705002"/>
            <a:ext cx="12191695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16"/>
          <p:cNvSpPr/>
          <p:nvPr/>
        </p:nvSpPr>
        <p:spPr>
          <a:xfrm>
            <a:off x="571500" y="1524305"/>
            <a:ext cx="11067898" cy="4686300"/>
          </a:xfrm>
          <a:prstGeom prst="roundRect">
            <a:avLst>
              <a:gd fmla="val 2849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6"/>
          <p:cNvSpPr/>
          <p:nvPr/>
        </p:nvSpPr>
        <p:spPr>
          <a:xfrm>
            <a:off x="571500" y="247802"/>
            <a:ext cx="342900" cy="342900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6f514903097306724cf6666a11368e0e.png" id="412" name="Google Shape;41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454" y="333756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16"/>
          <p:cNvSpPr txBox="1"/>
          <p:nvPr/>
        </p:nvSpPr>
        <p:spPr>
          <a:xfrm>
            <a:off x="1067105" y="247802"/>
            <a:ext cx="8306410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Workflow i vendimit — CV së pari, Bootstrap më vonë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6"/>
          <p:cNvSpPr txBox="1"/>
          <p:nvPr/>
        </p:nvSpPr>
        <p:spPr>
          <a:xfrm>
            <a:off x="8572500" y="323698"/>
            <a:ext cx="30486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Machine Learning | Modeli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6"/>
          <p:cNvSpPr txBox="1"/>
          <p:nvPr/>
        </p:nvSpPr>
        <p:spPr>
          <a:xfrm>
            <a:off x="571500" y="1009498"/>
            <a:ext cx="1104961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Në projekt real, të dyja teknikat përdoren në momente të ndryshme. Ja radhitja e drejtë.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5f1721cba1cf0c5054cc07bfbaf887eb.png" id="416" name="Google Shape;416;p16"/>
          <p:cNvPicPr preferRelativeResize="0"/>
          <p:nvPr/>
        </p:nvPicPr>
        <p:blipFill rotWithShape="1">
          <a:blip r:embed="rId6">
            <a:alphaModFix/>
          </a:blip>
          <a:srcRect b="-2" l="0" r="0" t="-2"/>
          <a:stretch/>
        </p:blipFill>
        <p:spPr>
          <a:xfrm>
            <a:off x="761695" y="1714500"/>
            <a:ext cx="10668305" cy="4381805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16"/>
          <p:cNvSpPr txBox="1"/>
          <p:nvPr/>
        </p:nvSpPr>
        <p:spPr>
          <a:xfrm>
            <a:off x="10953598" y="6515100"/>
            <a:ext cx="9528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Faqja 1</a:t>
            </a:r>
            <a:r>
              <a:rPr lang="en-US" sz="9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f71b8e4fd025b9dc618bf5ab305be868.png" id="423" name="Google Shape;423;p17"/>
          <p:cNvPicPr preferRelativeResize="0"/>
          <p:nvPr/>
        </p:nvPicPr>
        <p:blipFill rotWithShape="1">
          <a:blip r:embed="rId3">
            <a:alphaModFix/>
          </a:blip>
          <a:srcRect b="0" l="-200" r="-200" t="0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d351e0a4361c90357b6760b5ab718b8b.png" id="424" name="Google Shape;424;p17"/>
          <p:cNvPicPr preferRelativeResize="0"/>
          <p:nvPr/>
        </p:nvPicPr>
        <p:blipFill rotWithShape="1">
          <a:blip r:embed="rId4">
            <a:alphaModFix/>
          </a:blip>
          <a:srcRect b="-401" l="0" r="0" t="-401"/>
          <a:stretch/>
        </p:blipFill>
        <p:spPr>
          <a:xfrm>
            <a:off x="0" y="705002"/>
            <a:ext cx="12191695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17"/>
          <p:cNvSpPr/>
          <p:nvPr/>
        </p:nvSpPr>
        <p:spPr>
          <a:xfrm>
            <a:off x="571500" y="1524305"/>
            <a:ext cx="5495544" cy="3258007"/>
          </a:xfrm>
          <a:prstGeom prst="roundRect">
            <a:avLst>
              <a:gd fmla="val 4098" name="adj"/>
            </a:avLst>
          </a:prstGeom>
          <a:solidFill>
            <a:srgbClr val="FEF2F2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7"/>
          <p:cNvSpPr/>
          <p:nvPr/>
        </p:nvSpPr>
        <p:spPr>
          <a:xfrm>
            <a:off x="6143854" y="1524305"/>
            <a:ext cx="5495544" cy="3258007"/>
          </a:xfrm>
          <a:prstGeom prst="roundRect">
            <a:avLst>
              <a:gd fmla="val 4098" name="adj"/>
            </a:avLst>
          </a:prstGeom>
          <a:solidFill>
            <a:srgbClr val="F0FDFA"/>
          </a:solidFill>
          <a:ln cap="flat" cmpd="sng" w="12700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7"/>
          <p:cNvSpPr/>
          <p:nvPr/>
        </p:nvSpPr>
        <p:spPr>
          <a:xfrm>
            <a:off x="571500" y="4953305"/>
            <a:ext cx="11048695" cy="1238098"/>
          </a:xfrm>
          <a:prstGeom prst="roundRect">
            <a:avLst>
              <a:gd fmla="val 10783" name="adj"/>
            </a:avLst>
          </a:prstGeom>
          <a:solidFill>
            <a:srgbClr val="0F766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7"/>
          <p:cNvSpPr/>
          <p:nvPr/>
        </p:nvSpPr>
        <p:spPr>
          <a:xfrm>
            <a:off x="571500" y="247802"/>
            <a:ext cx="342900" cy="342900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9ee49bde053617865291c49b9fd60c67.png" id="429" name="Google Shape;42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454" y="333756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7"/>
          <p:cNvSpPr txBox="1"/>
          <p:nvPr/>
        </p:nvSpPr>
        <p:spPr>
          <a:xfrm>
            <a:off x="1067105" y="247802"/>
            <a:ext cx="7620610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Praktikë — 3 modele, me &amp; pa CV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7"/>
          <p:cNvSpPr txBox="1"/>
          <p:nvPr/>
        </p:nvSpPr>
        <p:spPr>
          <a:xfrm>
            <a:off x="8572500" y="323698"/>
            <a:ext cx="30486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Machine Learning | Modeli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7"/>
          <p:cNvSpPr txBox="1"/>
          <p:nvPr/>
        </p:nvSpPr>
        <p:spPr>
          <a:xfrm>
            <a:off x="571500" y="1009498"/>
            <a:ext cx="1104961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Rezultatet reale me dataset-in </a:t>
            </a:r>
            <a:r>
              <a:rPr b="1" i="0" lang="en-US" sz="1200" u="none" cap="none" strike="noStrike">
                <a:solidFill>
                  <a:srgbClr val="0F766E"/>
                </a:solidFill>
                <a:highlight>
                  <a:srgbClr val="F0FDFA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 employees_</a:t>
            </a:r>
            <a:r>
              <a:rPr b="1" lang="en-US" sz="1200">
                <a:solidFill>
                  <a:srgbClr val="0F766E"/>
                </a:solidFill>
                <a:highlight>
                  <a:srgbClr val="F0FDFA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churn</a:t>
            </a:r>
            <a:r>
              <a:rPr b="1" i="0" lang="en-US" sz="1200" u="none" cap="none" strike="noStrike">
                <a:solidFill>
                  <a:srgbClr val="0F766E"/>
                </a:solidFill>
                <a:highlight>
                  <a:srgbClr val="F0FDFA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.csv </a:t>
            </a: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— target churn. Shiko dallimin!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7"/>
          <p:cNvSpPr txBox="1"/>
          <p:nvPr/>
        </p:nvSpPr>
        <p:spPr>
          <a:xfrm>
            <a:off x="761695" y="1714500"/>
            <a:ext cx="5095951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✗ Pa CV (1 train/test split, random_state=42)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4" name="Google Shape;434;p17"/>
          <p:cNvGraphicFramePr/>
          <p:nvPr/>
        </p:nvGraphicFramePr>
        <p:xfrm>
          <a:off x="761695" y="20958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{B5BB7AA3-F1BD-4F27-B150-AD27E9DF071E}</a:tableStyleId>
              </a:tblPr>
              <a:tblGrid>
                <a:gridCol w="2009850"/>
                <a:gridCol w="1217975"/>
                <a:gridCol w="1089975"/>
                <a:gridCol w="778150"/>
              </a:tblGrid>
              <a:tr h="383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25"/>
                        <a:buFont typeface="Inter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6B72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MODELI</a:t>
                      </a:r>
                      <a:endParaRPr sz="825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5100" marB="95100" marR="114300" marL="1143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25"/>
                        <a:buFont typeface="Inter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6B72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ACCURACY</a:t>
                      </a:r>
                      <a:endParaRPr sz="825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5100" marB="95100" marR="114300" marL="1143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25"/>
                        <a:buFont typeface="Inter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6B72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F1-SCORE</a:t>
                      </a:r>
                      <a:endParaRPr sz="825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5100" marB="95100" marR="114300" marL="1143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25"/>
                        <a:buFont typeface="Inter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6B72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RANK</a:t>
                      </a:r>
                      <a:endParaRPr sz="825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5100" marB="95100" marR="114300" marL="1143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3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75"/>
                        <a:buFont typeface="Inter"/>
                        <a:buNone/>
                      </a:pPr>
                      <a:r>
                        <a:rPr lang="en-US" sz="975" u="none" cap="none" strike="noStrike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Logistic Regression</a:t>
                      </a:r>
                      <a:endParaRPr sz="975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75"/>
                        <a:buFont typeface="JetBrains Mono"/>
                        <a:buNone/>
                      </a:pPr>
                      <a:r>
                        <a:rPr lang="en-US" sz="975" u="none" cap="none" strike="noStrike">
                          <a:solidFill>
                            <a:srgbClr val="111827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0.70</a:t>
                      </a:r>
                      <a:endParaRPr sz="975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75"/>
                        <a:buFont typeface="JetBrains Mono"/>
                        <a:buNone/>
                      </a:pPr>
                      <a:r>
                        <a:rPr lang="en-US" sz="975" u="none" cap="none" strike="noStrike">
                          <a:solidFill>
                            <a:srgbClr val="111827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0.62</a:t>
                      </a:r>
                      <a:endParaRPr sz="975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975"/>
                        <a:buFont typeface="Inter"/>
                        <a:buNone/>
                      </a:pPr>
                      <a:r>
                        <a:rPr b="1" lang="en-US" sz="975" u="none" cap="none" strike="noStrike">
                          <a:solidFill>
                            <a:srgbClr val="6B72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</a:t>
                      </a:r>
                      <a:endParaRPr sz="975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3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75"/>
                        <a:buFont typeface="Inter"/>
                        <a:buNone/>
                      </a:pPr>
                      <a:r>
                        <a:rPr lang="en-US" sz="975" u="none" cap="none" strike="noStrike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Decision Tree 🏆</a:t>
                      </a:r>
                      <a:endParaRPr sz="975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975"/>
                        <a:buFont typeface="JetBrains Mono"/>
                        <a:buNone/>
                      </a:pPr>
                      <a:r>
                        <a:rPr b="1" lang="en-US" sz="975" u="none" cap="none" strike="noStrike">
                          <a:solidFill>
                            <a:srgbClr val="EF4444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0.90</a:t>
                      </a:r>
                      <a:endParaRPr sz="975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975"/>
                        <a:buFont typeface="JetBrains Mono"/>
                        <a:buNone/>
                      </a:pPr>
                      <a:r>
                        <a:rPr b="1" lang="en-US" sz="975" u="none" cap="none" strike="noStrike">
                          <a:solidFill>
                            <a:srgbClr val="EF4444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0.88</a:t>
                      </a:r>
                      <a:endParaRPr sz="975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975"/>
                        <a:buFont typeface="Inter"/>
                        <a:buNone/>
                      </a:pPr>
                      <a:r>
                        <a:rPr b="1" lang="en-US" sz="975" u="none" cap="none" strike="noStrike">
                          <a:solidFill>
                            <a:srgbClr val="EF44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 sz="975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3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75"/>
                        <a:buFont typeface="Inter"/>
                        <a:buNone/>
                      </a:pPr>
                      <a:r>
                        <a:rPr lang="en-US" sz="975" u="none" cap="none" strike="noStrike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Random Forest</a:t>
                      </a:r>
                      <a:endParaRPr sz="975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75"/>
                        <a:buFont typeface="JetBrains Mono"/>
                        <a:buNone/>
                      </a:pPr>
                      <a:r>
                        <a:rPr lang="en-US" sz="975" u="none" cap="none" strike="noStrike">
                          <a:solidFill>
                            <a:srgbClr val="111827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0.85</a:t>
                      </a:r>
                      <a:endParaRPr sz="975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75"/>
                        <a:buFont typeface="JetBrains Mono"/>
                        <a:buNone/>
                      </a:pPr>
                      <a:r>
                        <a:rPr lang="en-US" sz="975" u="none" cap="none" strike="noStrike">
                          <a:solidFill>
                            <a:srgbClr val="111827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0.82</a:t>
                      </a:r>
                      <a:endParaRPr sz="975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975"/>
                        <a:buFont typeface="Inter"/>
                        <a:buNone/>
                      </a:pPr>
                      <a:r>
                        <a:rPr b="1" lang="en-US" sz="975" u="none" cap="none" strike="noStrike">
                          <a:solidFill>
                            <a:srgbClr val="6B72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 sz="975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5" name="Google Shape;435;p17"/>
          <p:cNvSpPr txBox="1"/>
          <p:nvPr/>
        </p:nvSpPr>
        <p:spPr>
          <a:xfrm>
            <a:off x="761695" y="4524451"/>
            <a:ext cx="5095951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900"/>
              <a:buFont typeface="Inter"/>
              <a:buNone/>
            </a:pPr>
            <a:r>
              <a:rPr b="0" i="1" lang="en-US" sz="90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Konkluzioni i shpejtë: "Decision Tree është më i miri!" ← </a:t>
            </a:r>
            <a:r>
              <a:rPr b="1" i="1" lang="en-US" sz="90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e gabuar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7"/>
          <p:cNvSpPr txBox="1"/>
          <p:nvPr/>
        </p:nvSpPr>
        <p:spPr>
          <a:xfrm>
            <a:off x="6334049" y="1714500"/>
            <a:ext cx="5095951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✓ Me 5-fold Stratified CV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7" name="Google Shape;437;p17"/>
          <p:cNvGraphicFramePr/>
          <p:nvPr/>
        </p:nvGraphicFramePr>
        <p:xfrm>
          <a:off x="6334049" y="20958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{B5BB7AA3-F1BD-4F27-B150-AD27E9DF071E}</a:tableStyleId>
              </a:tblPr>
              <a:tblGrid>
                <a:gridCol w="1993400"/>
                <a:gridCol w="1349650"/>
                <a:gridCol w="980225"/>
                <a:gridCol w="771750"/>
              </a:tblGrid>
              <a:tr h="383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25"/>
                        <a:buFont typeface="Inter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6B72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MODELI</a:t>
                      </a:r>
                      <a:endParaRPr sz="825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5100" marB="95100" marR="114300" marL="1143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25"/>
                        <a:buFont typeface="Inter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6B72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F1 MESATARE</a:t>
                      </a:r>
                      <a:endParaRPr sz="825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5100" marB="95100" marR="114300" marL="1143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25"/>
                        <a:buFont typeface="Inter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6B72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± STD</a:t>
                      </a:r>
                      <a:endParaRPr sz="825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5100" marB="95100" marR="114300" marL="1143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25"/>
                        <a:buFont typeface="Inter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6B72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RANK</a:t>
                      </a:r>
                      <a:endParaRPr sz="825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5100" marB="95100" marR="114300" marL="1143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3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75"/>
                        <a:buFont typeface="Inter"/>
                        <a:buNone/>
                      </a:pPr>
                      <a:r>
                        <a:rPr lang="en-US" sz="975" u="none" cap="none" strike="noStrike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Logistic Regression</a:t>
                      </a:r>
                      <a:endParaRPr sz="975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75"/>
                        <a:buFont typeface="JetBrains Mono"/>
                        <a:buNone/>
                      </a:pPr>
                      <a:r>
                        <a:rPr lang="en-US" sz="975" u="none" cap="none" strike="noStrike">
                          <a:solidFill>
                            <a:srgbClr val="111827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0.64</a:t>
                      </a:r>
                      <a:endParaRPr sz="975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975"/>
                        <a:buFont typeface="JetBrains Mono"/>
                        <a:buNone/>
                      </a:pPr>
                      <a:r>
                        <a:rPr lang="en-US" sz="975" u="none" cap="none" strike="noStrike">
                          <a:solidFill>
                            <a:srgbClr val="6B728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± 0.06</a:t>
                      </a:r>
                      <a:endParaRPr sz="975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975"/>
                        <a:buFont typeface="Inter"/>
                        <a:buNone/>
                      </a:pPr>
                      <a:r>
                        <a:rPr b="1" lang="en-US" sz="975" u="none" cap="none" strike="noStrike">
                          <a:solidFill>
                            <a:srgbClr val="6B72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</a:t>
                      </a:r>
                      <a:endParaRPr sz="975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3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75"/>
                        <a:buFont typeface="Inter"/>
                        <a:buNone/>
                      </a:pPr>
                      <a:r>
                        <a:rPr lang="en-US" sz="975" u="none" cap="none" strike="noStrike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Decision Tree</a:t>
                      </a:r>
                      <a:endParaRPr sz="975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75"/>
                        <a:buFont typeface="JetBrains Mono"/>
                        <a:buNone/>
                      </a:pPr>
                      <a:r>
                        <a:rPr lang="en-US" sz="975" u="none" cap="none" strike="noStrike">
                          <a:solidFill>
                            <a:srgbClr val="111827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0.70</a:t>
                      </a:r>
                      <a:endParaRPr sz="975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975"/>
                        <a:buFont typeface="JetBrains Mono"/>
                        <a:buNone/>
                      </a:pPr>
                      <a:r>
                        <a:rPr b="1" lang="en-US" sz="975" u="none" cap="none" strike="noStrike">
                          <a:solidFill>
                            <a:srgbClr val="EF4444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± 0.13</a:t>
                      </a:r>
                      <a:endParaRPr sz="975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975"/>
                        <a:buFont typeface="Inter"/>
                        <a:buNone/>
                      </a:pPr>
                      <a:r>
                        <a:rPr b="1" lang="en-US" sz="975" u="none" cap="none" strike="noStrike">
                          <a:solidFill>
                            <a:srgbClr val="6B72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 sz="975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3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75"/>
                        <a:buFont typeface="Inter"/>
                        <a:buNone/>
                      </a:pPr>
                      <a:r>
                        <a:rPr lang="en-US" sz="975" u="none" cap="none" strike="noStrike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Random Forest 🏆</a:t>
                      </a:r>
                      <a:endParaRPr sz="975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766E"/>
                        </a:buClr>
                        <a:buSzPts val="975"/>
                        <a:buFont typeface="JetBrains Mono"/>
                        <a:buNone/>
                      </a:pPr>
                      <a:r>
                        <a:rPr b="1" lang="en-US" sz="975" u="none" cap="none" strike="noStrike">
                          <a:solidFill>
                            <a:srgbClr val="0F766E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0.79</a:t>
                      </a:r>
                      <a:endParaRPr sz="975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766E"/>
                        </a:buClr>
                        <a:buSzPts val="975"/>
                        <a:buFont typeface="JetBrains Mono"/>
                        <a:buNone/>
                      </a:pPr>
                      <a:r>
                        <a:rPr b="1" lang="en-US" sz="975" u="none" cap="none" strike="noStrike">
                          <a:solidFill>
                            <a:srgbClr val="0F766E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± 0.04</a:t>
                      </a:r>
                      <a:endParaRPr sz="975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766E"/>
                        </a:buClr>
                        <a:buSzPts val="975"/>
                        <a:buFont typeface="Inter"/>
                        <a:buNone/>
                      </a:pPr>
                      <a:r>
                        <a:rPr b="1" lang="en-US" sz="975" u="none" cap="none" strike="noStrike">
                          <a:solidFill>
                            <a:srgbClr val="0F766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 sz="975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8" name="Google Shape;438;p17"/>
          <p:cNvSpPr txBox="1"/>
          <p:nvPr/>
        </p:nvSpPr>
        <p:spPr>
          <a:xfrm>
            <a:off x="6334049" y="4524451"/>
            <a:ext cx="5095951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00"/>
              <a:buFont typeface="Inter"/>
              <a:buNone/>
            </a:pPr>
            <a:r>
              <a:rPr b="0" i="1" lang="en-US" sz="900" u="none" cap="none" strike="noStrike">
                <a:solidFill>
                  <a:srgbClr val="065F46"/>
                </a:solidFill>
                <a:latin typeface="Inter"/>
                <a:ea typeface="Inter"/>
                <a:cs typeface="Inter"/>
                <a:sym typeface="Inter"/>
              </a:rPr>
              <a:t>Konkluzioni i drejtë: "Random Forest — më i mirë </a:t>
            </a:r>
            <a:r>
              <a:rPr b="1" i="1" lang="en-US" sz="900" u="none" cap="none" strike="noStrike">
                <a:solidFill>
                  <a:srgbClr val="065F46"/>
                </a:solidFill>
                <a:latin typeface="Inter"/>
                <a:ea typeface="Inter"/>
                <a:cs typeface="Inter"/>
                <a:sym typeface="Inter"/>
              </a:rPr>
              <a:t>DHE</a:t>
            </a:r>
            <a:r>
              <a:rPr b="0" i="1" lang="en-US" sz="900" u="none" cap="none" strike="noStrike">
                <a:solidFill>
                  <a:srgbClr val="065F46"/>
                </a:solidFill>
                <a:latin typeface="Inter"/>
                <a:ea typeface="Inter"/>
                <a:cs typeface="Inter"/>
                <a:sym typeface="Inter"/>
              </a:rPr>
              <a:t> më i qëndrueshëm."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7"/>
          <p:cNvSpPr txBox="1"/>
          <p:nvPr/>
        </p:nvSpPr>
        <p:spPr>
          <a:xfrm>
            <a:off x="857707" y="5124298"/>
            <a:ext cx="1047811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Pse Decision Tree "dukej" më i miri me 1 split?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7"/>
          <p:cNvSpPr txBox="1"/>
          <p:nvPr/>
        </p:nvSpPr>
        <p:spPr>
          <a:xfrm>
            <a:off x="857707" y="5400446"/>
            <a:ext cx="1047811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D1FAE5"/>
                </a:solidFill>
                <a:latin typeface="Inter"/>
                <a:ea typeface="Inter"/>
                <a:cs typeface="Inter"/>
                <a:sym typeface="Inter"/>
              </a:rPr>
              <a:t>Ai </a:t>
            </a:r>
            <a:r>
              <a:rPr b="1" i="0" lang="en-US" sz="1000" u="none" cap="none" strike="noStrike">
                <a:solidFill>
                  <a:srgbClr val="D1FAE5"/>
                </a:solidFill>
                <a:latin typeface="Inter"/>
                <a:ea typeface="Inter"/>
                <a:cs typeface="Inter"/>
                <a:sym typeface="Inter"/>
              </a:rPr>
              <a:t>ka pasur fat</a:t>
            </a:r>
            <a:r>
              <a:rPr b="0" i="0" lang="en-US" sz="1000" u="none" cap="none" strike="noStrike">
                <a:solidFill>
                  <a:srgbClr val="D1FAE5"/>
                </a:solidFill>
                <a:latin typeface="Inter"/>
                <a:ea typeface="Inter"/>
                <a:cs typeface="Inter"/>
                <a:sym typeface="Inter"/>
              </a:rPr>
              <a:t> me atë random_state = 42 — split-i i lëshoi mostrat "e lehta" në test. Me CV shohim se Tree është </a:t>
            </a:r>
            <a:r>
              <a:rPr b="1" i="0" lang="en-US" sz="1000" u="none" cap="none" strike="noStrike">
                <a:solidFill>
                  <a:srgbClr val="D1FAE5"/>
                </a:solidFill>
                <a:latin typeface="Inter"/>
                <a:ea typeface="Inter"/>
                <a:cs typeface="Inter"/>
                <a:sym typeface="Inter"/>
              </a:rPr>
              <a:t>i lëkundshëm</a:t>
            </a:r>
            <a:r>
              <a:rPr b="0" i="0" lang="en-US" sz="1000" u="none" cap="none" strike="noStrike">
                <a:solidFill>
                  <a:srgbClr val="D1FAE5"/>
                </a:solidFill>
                <a:latin typeface="Inter"/>
                <a:ea typeface="Inter"/>
                <a:cs typeface="Inter"/>
                <a:sym typeface="Inter"/>
              </a:rPr>
              <a:t> (± 0.13). Random Forest ka F1 më të lartë </a:t>
            </a:r>
            <a:r>
              <a:rPr b="1" i="0" lang="en-US" sz="1000" u="none" cap="none" strike="noStrike">
                <a:solidFill>
                  <a:srgbClr val="D1FAE5"/>
                </a:solidFill>
                <a:latin typeface="Inter"/>
                <a:ea typeface="Inter"/>
                <a:cs typeface="Inter"/>
                <a:sym typeface="Inter"/>
              </a:rPr>
              <a:t>dhe</a:t>
            </a:r>
            <a:r>
              <a:rPr b="0" i="0" lang="en-US" sz="1000" u="none" cap="none" strike="noStrike">
                <a:solidFill>
                  <a:srgbClr val="D1FAE5"/>
                </a:solidFill>
                <a:latin typeface="Inter"/>
                <a:ea typeface="Inter"/>
                <a:cs typeface="Inter"/>
                <a:sym typeface="Inter"/>
              </a:rPr>
              <a:t> luhatje shumë më të vogël (± 0.04) → zgjedhja e drejtë. </a:t>
            </a:r>
            <a:r>
              <a:rPr b="1" i="0" lang="en-US" sz="1000" u="none" cap="none" strike="noStrike">
                <a:solidFill>
                  <a:srgbClr val="5EEAD4"/>
                </a:solidFill>
                <a:latin typeface="Inter"/>
                <a:ea typeface="Inter"/>
                <a:cs typeface="Inter"/>
                <a:sym typeface="Inter"/>
              </a:rPr>
              <a:t>CV na mbrojti nga një vendim i keq.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7"/>
          <p:cNvSpPr txBox="1"/>
          <p:nvPr/>
        </p:nvSpPr>
        <p:spPr>
          <a:xfrm>
            <a:off x="10953598" y="6515100"/>
            <a:ext cx="9528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Faqja 1</a:t>
            </a:r>
            <a:r>
              <a:rPr lang="en-US" sz="9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